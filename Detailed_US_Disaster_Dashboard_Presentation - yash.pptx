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7B9EE-53D2-489E-8C05-280F6220477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725AB3-8F2B-4DD8-AD9D-F826C92050C6}">
      <dgm:prSet/>
      <dgm:spPr/>
      <dgm:t>
        <a:bodyPr/>
        <a:lstStyle/>
        <a:p>
          <a:r>
            <a:rPr lang="en-IN" b="1"/>
            <a:t>Project Goals</a:t>
          </a:r>
          <a:endParaRPr lang="en-US"/>
        </a:p>
      </dgm:t>
    </dgm:pt>
    <dgm:pt modelId="{277D8D70-802D-4CFD-8E16-D9F02444EC5C}" type="parTrans" cxnId="{BE5AB7FC-1AAD-47AF-86D9-B771C9E6E090}">
      <dgm:prSet/>
      <dgm:spPr/>
      <dgm:t>
        <a:bodyPr/>
        <a:lstStyle/>
        <a:p>
          <a:endParaRPr lang="en-US"/>
        </a:p>
      </dgm:t>
    </dgm:pt>
    <dgm:pt modelId="{F40635BD-D21D-4EB7-81F5-917C062856B7}" type="sibTrans" cxnId="{BE5AB7FC-1AAD-47AF-86D9-B771C9E6E09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ADC7925-6A5F-4231-BA52-2A0A17BC6EAB}">
      <dgm:prSet/>
      <dgm:spPr/>
      <dgm:t>
        <a:bodyPr/>
        <a:lstStyle/>
        <a:p>
          <a:r>
            <a:rPr lang="en-IN"/>
            <a:t>Analyze FEMA disaster declaration data </a:t>
          </a:r>
          <a:endParaRPr lang="en-US"/>
        </a:p>
      </dgm:t>
    </dgm:pt>
    <dgm:pt modelId="{7A15A3AB-1053-4F96-9B8E-1072668CF60D}" type="parTrans" cxnId="{EE25C636-5399-46FE-9D30-5A6F7CEB5EC6}">
      <dgm:prSet/>
      <dgm:spPr/>
      <dgm:t>
        <a:bodyPr/>
        <a:lstStyle/>
        <a:p>
          <a:endParaRPr lang="en-US"/>
        </a:p>
      </dgm:t>
    </dgm:pt>
    <dgm:pt modelId="{529AEFEE-96DC-4A14-9440-57D5C00BCC34}" type="sibTrans" cxnId="{EE25C636-5399-46FE-9D30-5A6F7CEB5EC6}">
      <dgm:prSet/>
      <dgm:spPr/>
      <dgm:t>
        <a:bodyPr/>
        <a:lstStyle/>
        <a:p>
          <a:endParaRPr lang="en-US"/>
        </a:p>
      </dgm:t>
    </dgm:pt>
    <dgm:pt modelId="{4EAAACF3-2AED-4936-BBD1-39ABA4ED4EC1}">
      <dgm:prSet/>
      <dgm:spPr/>
      <dgm:t>
        <a:bodyPr/>
        <a:lstStyle/>
        <a:p>
          <a:r>
            <a:rPr lang="en-IN"/>
            <a:t>Identify disaster-prone states </a:t>
          </a:r>
          <a:endParaRPr lang="en-US"/>
        </a:p>
      </dgm:t>
    </dgm:pt>
    <dgm:pt modelId="{CC67B522-2BEC-4D0A-9291-4BCAA2F24CF5}" type="parTrans" cxnId="{78A43897-EFB1-4CC6-9797-FE899D25985A}">
      <dgm:prSet/>
      <dgm:spPr/>
      <dgm:t>
        <a:bodyPr/>
        <a:lstStyle/>
        <a:p>
          <a:endParaRPr lang="en-US"/>
        </a:p>
      </dgm:t>
    </dgm:pt>
    <dgm:pt modelId="{885B1207-7D76-46B3-8CAE-3F480A0D9B9E}" type="sibTrans" cxnId="{78A43897-EFB1-4CC6-9797-FE899D25985A}">
      <dgm:prSet/>
      <dgm:spPr/>
      <dgm:t>
        <a:bodyPr/>
        <a:lstStyle/>
        <a:p>
          <a:endParaRPr lang="en-US"/>
        </a:p>
      </dgm:t>
    </dgm:pt>
    <dgm:pt modelId="{3776F94D-0A37-4FE0-A4D9-C4DBAC97143E}">
      <dgm:prSet/>
      <dgm:spPr/>
      <dgm:t>
        <a:bodyPr/>
        <a:lstStyle/>
        <a:p>
          <a:r>
            <a:rPr lang="en-IN"/>
            <a:t>Study disaster trends over time </a:t>
          </a:r>
          <a:endParaRPr lang="en-US"/>
        </a:p>
      </dgm:t>
    </dgm:pt>
    <dgm:pt modelId="{FE33B206-0AFD-4D48-B409-CF793E3DEAEA}" type="parTrans" cxnId="{105A2334-7DFA-4EA8-9694-33A0DA2EB708}">
      <dgm:prSet/>
      <dgm:spPr/>
      <dgm:t>
        <a:bodyPr/>
        <a:lstStyle/>
        <a:p>
          <a:endParaRPr lang="en-US"/>
        </a:p>
      </dgm:t>
    </dgm:pt>
    <dgm:pt modelId="{CDA98E86-3CA6-4F79-809A-903F2A8CAAB6}" type="sibTrans" cxnId="{105A2334-7DFA-4EA8-9694-33A0DA2EB708}">
      <dgm:prSet/>
      <dgm:spPr/>
      <dgm:t>
        <a:bodyPr/>
        <a:lstStyle/>
        <a:p>
          <a:endParaRPr lang="en-US"/>
        </a:p>
      </dgm:t>
    </dgm:pt>
    <dgm:pt modelId="{AC91B796-67CB-4D34-A71E-6DAA5B7B95DB}">
      <dgm:prSet/>
      <dgm:spPr/>
      <dgm:t>
        <a:bodyPr/>
        <a:lstStyle/>
        <a:p>
          <a:r>
            <a:rPr lang="en-IN"/>
            <a:t>Compare IA, PA, and HM assistance programs </a:t>
          </a:r>
          <a:endParaRPr lang="en-US"/>
        </a:p>
      </dgm:t>
    </dgm:pt>
    <dgm:pt modelId="{F3D85CFB-CC60-4D2A-A2CF-E7800C3ECA04}" type="parTrans" cxnId="{91FE2016-B07F-4B14-9749-BC89D3D0E1DB}">
      <dgm:prSet/>
      <dgm:spPr/>
      <dgm:t>
        <a:bodyPr/>
        <a:lstStyle/>
        <a:p>
          <a:endParaRPr lang="en-US"/>
        </a:p>
      </dgm:t>
    </dgm:pt>
    <dgm:pt modelId="{A30B1372-B66F-432C-A0A5-882AD2E1F1B5}" type="sibTrans" cxnId="{91FE2016-B07F-4B14-9749-BC89D3D0E1DB}">
      <dgm:prSet/>
      <dgm:spPr/>
      <dgm:t>
        <a:bodyPr/>
        <a:lstStyle/>
        <a:p>
          <a:endParaRPr lang="en-US"/>
        </a:p>
      </dgm:t>
    </dgm:pt>
    <dgm:pt modelId="{B97F1134-9714-4C2F-99AD-298A67960A5B}">
      <dgm:prSet/>
      <dgm:spPr/>
      <dgm:t>
        <a:bodyPr/>
        <a:lstStyle/>
        <a:p>
          <a:r>
            <a:rPr lang="en-IN"/>
            <a:t>Perform scenario analysis using a What-If parameter </a:t>
          </a:r>
          <a:endParaRPr lang="en-US"/>
        </a:p>
      </dgm:t>
    </dgm:pt>
    <dgm:pt modelId="{2B0C14CE-174C-4F3F-96FB-AB5C7623D9F4}" type="parTrans" cxnId="{B3EFCCAA-4F36-463E-A5BD-27F8541BC63C}">
      <dgm:prSet/>
      <dgm:spPr/>
      <dgm:t>
        <a:bodyPr/>
        <a:lstStyle/>
        <a:p>
          <a:endParaRPr lang="en-US"/>
        </a:p>
      </dgm:t>
    </dgm:pt>
    <dgm:pt modelId="{B31F3027-59F1-4370-82FE-029DD4DEB223}" type="sibTrans" cxnId="{B3EFCCAA-4F36-463E-A5BD-27F8541BC63C}">
      <dgm:prSet/>
      <dgm:spPr/>
      <dgm:t>
        <a:bodyPr/>
        <a:lstStyle/>
        <a:p>
          <a:endParaRPr lang="en-US"/>
        </a:p>
      </dgm:t>
    </dgm:pt>
    <dgm:pt modelId="{255A667F-1813-4FD4-AF70-4F7CFA314166}">
      <dgm:prSet/>
      <dgm:spPr/>
      <dgm:t>
        <a:bodyPr/>
        <a:lstStyle/>
        <a:p>
          <a:r>
            <a:rPr lang="en-IN"/>
            <a:t>Build an optimized Power BI dashboard</a:t>
          </a:r>
          <a:endParaRPr lang="en-US"/>
        </a:p>
      </dgm:t>
    </dgm:pt>
    <dgm:pt modelId="{FC8194C6-A9D1-4D09-8F5C-74AD4EFBC81A}" type="parTrans" cxnId="{533D4326-2E0B-4DEC-9ADE-B1CC8DB2011C}">
      <dgm:prSet/>
      <dgm:spPr/>
      <dgm:t>
        <a:bodyPr/>
        <a:lstStyle/>
        <a:p>
          <a:endParaRPr lang="en-US"/>
        </a:p>
      </dgm:t>
    </dgm:pt>
    <dgm:pt modelId="{1139CEB1-C9DB-4953-A4FE-F50F5C12A3C3}" type="sibTrans" cxnId="{533D4326-2E0B-4DEC-9ADE-B1CC8DB2011C}">
      <dgm:prSet/>
      <dgm:spPr/>
      <dgm:t>
        <a:bodyPr/>
        <a:lstStyle/>
        <a:p>
          <a:endParaRPr lang="en-US"/>
        </a:p>
      </dgm:t>
    </dgm:pt>
    <dgm:pt modelId="{872DCA1B-71A9-4420-B32E-B2F195D4F0B8}" type="pres">
      <dgm:prSet presAssocID="{E537B9EE-53D2-489E-8C05-280F62204770}" presName="Name0" presStyleCnt="0">
        <dgm:presLayoutVars>
          <dgm:animLvl val="lvl"/>
          <dgm:resizeHandles val="exact"/>
        </dgm:presLayoutVars>
      </dgm:prSet>
      <dgm:spPr/>
    </dgm:pt>
    <dgm:pt modelId="{42F9B639-0458-45C5-9BBC-BE3DA4E03E6D}" type="pres">
      <dgm:prSet presAssocID="{47725AB3-8F2B-4DD8-AD9D-F826C92050C6}" presName="compositeNode" presStyleCnt="0">
        <dgm:presLayoutVars>
          <dgm:bulletEnabled val="1"/>
        </dgm:presLayoutVars>
      </dgm:prSet>
      <dgm:spPr/>
    </dgm:pt>
    <dgm:pt modelId="{0DA4C53D-AD57-4FE6-96A4-878E1B97CD36}" type="pres">
      <dgm:prSet presAssocID="{47725AB3-8F2B-4DD8-AD9D-F826C92050C6}" presName="bgRect" presStyleLbl="bgAccFollowNode1" presStyleIdx="0" presStyleCnt="1" custLinFactNeighborY="19089"/>
      <dgm:spPr/>
    </dgm:pt>
    <dgm:pt modelId="{A4DC6047-8DF9-4694-9D90-5BB7CC850A69}" type="pres">
      <dgm:prSet presAssocID="{F40635BD-D21D-4EB7-81F5-917C062856B7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F21583BD-D550-41F9-A95D-65381BE51C20}" type="pres">
      <dgm:prSet presAssocID="{47725AB3-8F2B-4DD8-AD9D-F826C92050C6}" presName="bottomLine" presStyleLbl="alignNode1" presStyleIdx="1" presStyleCnt="2">
        <dgm:presLayoutVars/>
      </dgm:prSet>
      <dgm:spPr/>
    </dgm:pt>
    <dgm:pt modelId="{5187E867-F05B-4BB9-ADD3-A0CA4186D7B7}" type="pres">
      <dgm:prSet presAssocID="{47725AB3-8F2B-4DD8-AD9D-F826C92050C6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E5E3D10B-9A7F-4934-A627-49F76CF8FB0C}" type="presOf" srcId="{4EAAACF3-2AED-4936-BBD1-39ABA4ED4EC1}" destId="{5187E867-F05B-4BB9-ADD3-A0CA4186D7B7}" srcOrd="0" destOrd="2" presId="urn:microsoft.com/office/officeart/2016/7/layout/BasicLinearProcessNumbered"/>
    <dgm:cxn modelId="{91FE2016-B07F-4B14-9749-BC89D3D0E1DB}" srcId="{47725AB3-8F2B-4DD8-AD9D-F826C92050C6}" destId="{AC91B796-67CB-4D34-A71E-6DAA5B7B95DB}" srcOrd="3" destOrd="0" parTransId="{F3D85CFB-CC60-4D2A-A2CF-E7800C3ECA04}" sibTransId="{A30B1372-B66F-432C-A0A5-882AD2E1F1B5}"/>
    <dgm:cxn modelId="{533D4326-2E0B-4DEC-9ADE-B1CC8DB2011C}" srcId="{47725AB3-8F2B-4DD8-AD9D-F826C92050C6}" destId="{255A667F-1813-4FD4-AF70-4F7CFA314166}" srcOrd="5" destOrd="0" parTransId="{FC8194C6-A9D1-4D09-8F5C-74AD4EFBC81A}" sibTransId="{1139CEB1-C9DB-4953-A4FE-F50F5C12A3C3}"/>
    <dgm:cxn modelId="{105A2334-7DFA-4EA8-9694-33A0DA2EB708}" srcId="{47725AB3-8F2B-4DD8-AD9D-F826C92050C6}" destId="{3776F94D-0A37-4FE0-A4D9-C4DBAC97143E}" srcOrd="2" destOrd="0" parTransId="{FE33B206-0AFD-4D48-B409-CF793E3DEAEA}" sibTransId="{CDA98E86-3CA6-4F79-809A-903F2A8CAAB6}"/>
    <dgm:cxn modelId="{EE25C636-5399-46FE-9D30-5A6F7CEB5EC6}" srcId="{47725AB3-8F2B-4DD8-AD9D-F826C92050C6}" destId="{CADC7925-6A5F-4231-BA52-2A0A17BC6EAB}" srcOrd="0" destOrd="0" parTransId="{7A15A3AB-1053-4F96-9B8E-1072668CF60D}" sibTransId="{529AEFEE-96DC-4A14-9440-57D5C00BCC34}"/>
    <dgm:cxn modelId="{67B6EF66-7485-4CDB-B18D-39D7766A4E27}" type="presOf" srcId="{255A667F-1813-4FD4-AF70-4F7CFA314166}" destId="{5187E867-F05B-4BB9-ADD3-A0CA4186D7B7}" srcOrd="0" destOrd="6" presId="urn:microsoft.com/office/officeart/2016/7/layout/BasicLinearProcessNumbered"/>
    <dgm:cxn modelId="{EEA37069-85F3-4C6E-9C46-6C6D3654A38F}" type="presOf" srcId="{E537B9EE-53D2-489E-8C05-280F62204770}" destId="{872DCA1B-71A9-4420-B32E-B2F195D4F0B8}" srcOrd="0" destOrd="0" presId="urn:microsoft.com/office/officeart/2016/7/layout/BasicLinearProcessNumbered"/>
    <dgm:cxn modelId="{1CFB5C5A-F89D-4982-A3CC-09DCA6CF795A}" type="presOf" srcId="{F40635BD-D21D-4EB7-81F5-917C062856B7}" destId="{A4DC6047-8DF9-4694-9D90-5BB7CC850A69}" srcOrd="0" destOrd="0" presId="urn:microsoft.com/office/officeart/2016/7/layout/BasicLinearProcessNumbered"/>
    <dgm:cxn modelId="{EAF8E881-CFB2-41D8-AEB2-4D7B6E4A6703}" type="presOf" srcId="{47725AB3-8F2B-4DD8-AD9D-F826C92050C6}" destId="{5187E867-F05B-4BB9-ADD3-A0CA4186D7B7}" srcOrd="1" destOrd="0" presId="urn:microsoft.com/office/officeart/2016/7/layout/BasicLinearProcessNumbered"/>
    <dgm:cxn modelId="{78A43897-EFB1-4CC6-9797-FE899D25985A}" srcId="{47725AB3-8F2B-4DD8-AD9D-F826C92050C6}" destId="{4EAAACF3-2AED-4936-BBD1-39ABA4ED4EC1}" srcOrd="1" destOrd="0" parTransId="{CC67B522-2BEC-4D0A-9291-4BCAA2F24CF5}" sibTransId="{885B1207-7D76-46B3-8CAE-3F480A0D9B9E}"/>
    <dgm:cxn modelId="{B3EFCCAA-4F36-463E-A5BD-27F8541BC63C}" srcId="{47725AB3-8F2B-4DD8-AD9D-F826C92050C6}" destId="{B97F1134-9714-4C2F-99AD-298A67960A5B}" srcOrd="4" destOrd="0" parTransId="{2B0C14CE-174C-4F3F-96FB-AB5C7623D9F4}" sibTransId="{B31F3027-59F1-4370-82FE-029DD4DEB223}"/>
    <dgm:cxn modelId="{882193BB-489C-4484-B900-69D2D3DC1710}" type="presOf" srcId="{CADC7925-6A5F-4231-BA52-2A0A17BC6EAB}" destId="{5187E867-F05B-4BB9-ADD3-A0CA4186D7B7}" srcOrd="0" destOrd="1" presId="urn:microsoft.com/office/officeart/2016/7/layout/BasicLinearProcessNumbered"/>
    <dgm:cxn modelId="{7484F8C9-70EF-4217-92F8-71AAA23A08D3}" type="presOf" srcId="{AC91B796-67CB-4D34-A71E-6DAA5B7B95DB}" destId="{5187E867-F05B-4BB9-ADD3-A0CA4186D7B7}" srcOrd="0" destOrd="4" presId="urn:microsoft.com/office/officeart/2016/7/layout/BasicLinearProcessNumbered"/>
    <dgm:cxn modelId="{B8DAC0DD-409A-4288-B7C1-D0109496A66E}" type="presOf" srcId="{3776F94D-0A37-4FE0-A4D9-C4DBAC97143E}" destId="{5187E867-F05B-4BB9-ADD3-A0CA4186D7B7}" srcOrd="0" destOrd="3" presId="urn:microsoft.com/office/officeart/2016/7/layout/BasicLinearProcessNumbered"/>
    <dgm:cxn modelId="{EC40D5ED-A744-42FC-8697-BBAEB2865C01}" type="presOf" srcId="{47725AB3-8F2B-4DD8-AD9D-F826C92050C6}" destId="{0DA4C53D-AD57-4FE6-96A4-878E1B97CD36}" srcOrd="0" destOrd="0" presId="urn:microsoft.com/office/officeart/2016/7/layout/BasicLinearProcessNumbered"/>
    <dgm:cxn modelId="{F9D2A9F2-B7F6-4517-875A-833BC755E05E}" type="presOf" srcId="{B97F1134-9714-4C2F-99AD-298A67960A5B}" destId="{5187E867-F05B-4BB9-ADD3-A0CA4186D7B7}" srcOrd="0" destOrd="5" presId="urn:microsoft.com/office/officeart/2016/7/layout/BasicLinearProcessNumbered"/>
    <dgm:cxn modelId="{BE5AB7FC-1AAD-47AF-86D9-B771C9E6E090}" srcId="{E537B9EE-53D2-489E-8C05-280F62204770}" destId="{47725AB3-8F2B-4DD8-AD9D-F826C92050C6}" srcOrd="0" destOrd="0" parTransId="{277D8D70-802D-4CFD-8E16-D9F02444EC5C}" sibTransId="{F40635BD-D21D-4EB7-81F5-917C062856B7}"/>
    <dgm:cxn modelId="{5C228B64-4FEE-41E6-BEC2-1A34DC111BD3}" type="presParOf" srcId="{872DCA1B-71A9-4420-B32E-B2F195D4F0B8}" destId="{42F9B639-0458-45C5-9BBC-BE3DA4E03E6D}" srcOrd="0" destOrd="0" presId="urn:microsoft.com/office/officeart/2016/7/layout/BasicLinearProcessNumbered"/>
    <dgm:cxn modelId="{A0EAAFAB-66B5-448E-9DB7-65D6B7A9EC14}" type="presParOf" srcId="{42F9B639-0458-45C5-9BBC-BE3DA4E03E6D}" destId="{0DA4C53D-AD57-4FE6-96A4-878E1B97CD36}" srcOrd="0" destOrd="0" presId="urn:microsoft.com/office/officeart/2016/7/layout/BasicLinearProcessNumbered"/>
    <dgm:cxn modelId="{93533E74-A86F-499D-A732-CE9FC5E089F8}" type="presParOf" srcId="{42F9B639-0458-45C5-9BBC-BE3DA4E03E6D}" destId="{A4DC6047-8DF9-4694-9D90-5BB7CC850A69}" srcOrd="1" destOrd="0" presId="urn:microsoft.com/office/officeart/2016/7/layout/BasicLinearProcessNumbered"/>
    <dgm:cxn modelId="{0BB26DE1-EADE-490F-A966-D85D28B75EA6}" type="presParOf" srcId="{42F9B639-0458-45C5-9BBC-BE3DA4E03E6D}" destId="{F21583BD-D550-41F9-A95D-65381BE51C20}" srcOrd="2" destOrd="0" presId="urn:microsoft.com/office/officeart/2016/7/layout/BasicLinearProcessNumbered"/>
    <dgm:cxn modelId="{A87CF438-C695-42B1-8D30-F72BC0AA34DA}" type="presParOf" srcId="{42F9B639-0458-45C5-9BBC-BE3DA4E03E6D}" destId="{5187E867-F05B-4BB9-ADD3-A0CA4186D7B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7BE182-BAAC-4A99-815B-B3A8F681BB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3FADE4-5FEC-495E-B83C-F786762CD30A}">
      <dgm:prSet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Important Columns</a:t>
          </a:r>
          <a:endParaRPr lang="en-US" b="1" dirty="0">
            <a:solidFill>
              <a:schemeClr val="tx1"/>
            </a:solidFill>
          </a:endParaRPr>
        </a:p>
      </dgm:t>
    </dgm:pt>
    <dgm:pt modelId="{B95DAF58-9729-4DC0-81B8-74CF2B181A14}" type="parTrans" cxnId="{49600B5E-E60D-472F-8818-E8AF3D637A2B}">
      <dgm:prSet/>
      <dgm:spPr/>
      <dgm:t>
        <a:bodyPr/>
        <a:lstStyle/>
        <a:p>
          <a:endParaRPr lang="en-US"/>
        </a:p>
      </dgm:t>
    </dgm:pt>
    <dgm:pt modelId="{9508C747-AC1A-4A7C-9B2E-318F4B8FA0CF}" type="sibTrans" cxnId="{49600B5E-E60D-472F-8818-E8AF3D637A2B}">
      <dgm:prSet/>
      <dgm:spPr/>
      <dgm:t>
        <a:bodyPr/>
        <a:lstStyle/>
        <a:p>
          <a:endParaRPr lang="en-US"/>
        </a:p>
      </dgm:t>
    </dgm:pt>
    <dgm:pt modelId="{0F0DD027-ECC8-43A6-9656-ACC18D3B3F9F}">
      <dgm:prSet/>
      <dgm:spPr/>
      <dgm:t>
        <a:bodyPr/>
        <a:lstStyle/>
        <a:p>
          <a:r>
            <a:rPr lang="en-IN"/>
            <a:t>Disaster Number </a:t>
          </a:r>
          <a:endParaRPr lang="en-US"/>
        </a:p>
      </dgm:t>
    </dgm:pt>
    <dgm:pt modelId="{ED9EECBC-6F12-430C-9A56-05DE35D2665E}" type="parTrans" cxnId="{80804163-8148-49F0-8975-2AD882D0D3DE}">
      <dgm:prSet/>
      <dgm:spPr/>
      <dgm:t>
        <a:bodyPr/>
        <a:lstStyle/>
        <a:p>
          <a:endParaRPr lang="en-US"/>
        </a:p>
      </dgm:t>
    </dgm:pt>
    <dgm:pt modelId="{068F3136-C246-47D3-9C84-9339BFFF3E37}" type="sibTrans" cxnId="{80804163-8148-49F0-8975-2AD882D0D3DE}">
      <dgm:prSet/>
      <dgm:spPr/>
      <dgm:t>
        <a:bodyPr/>
        <a:lstStyle/>
        <a:p>
          <a:endParaRPr lang="en-US"/>
        </a:p>
      </dgm:t>
    </dgm:pt>
    <dgm:pt modelId="{CCF0488C-A573-4C97-93BA-7273D4467CD5}">
      <dgm:prSet/>
      <dgm:spPr/>
      <dgm:t>
        <a:bodyPr/>
        <a:lstStyle/>
        <a:p>
          <a:r>
            <a:rPr lang="en-IN"/>
            <a:t>State </a:t>
          </a:r>
          <a:endParaRPr lang="en-US"/>
        </a:p>
      </dgm:t>
    </dgm:pt>
    <dgm:pt modelId="{01EC3D0F-28C3-43DD-9C41-67D02FC4C95D}" type="parTrans" cxnId="{DB3844E0-2F85-41D5-9A1D-1FA1CD4AFA50}">
      <dgm:prSet/>
      <dgm:spPr/>
      <dgm:t>
        <a:bodyPr/>
        <a:lstStyle/>
        <a:p>
          <a:endParaRPr lang="en-US"/>
        </a:p>
      </dgm:t>
    </dgm:pt>
    <dgm:pt modelId="{A080C7DF-E3C1-44F3-8FAA-A4A8AA0DF458}" type="sibTrans" cxnId="{DB3844E0-2F85-41D5-9A1D-1FA1CD4AFA50}">
      <dgm:prSet/>
      <dgm:spPr/>
      <dgm:t>
        <a:bodyPr/>
        <a:lstStyle/>
        <a:p>
          <a:endParaRPr lang="en-US"/>
        </a:p>
      </dgm:t>
    </dgm:pt>
    <dgm:pt modelId="{A7ED94C7-88A3-47A0-813F-319B01963918}">
      <dgm:prSet/>
      <dgm:spPr/>
      <dgm:t>
        <a:bodyPr/>
        <a:lstStyle/>
        <a:p>
          <a:r>
            <a:rPr lang="en-IN"/>
            <a:t>Incident Type </a:t>
          </a:r>
          <a:endParaRPr lang="en-US"/>
        </a:p>
      </dgm:t>
    </dgm:pt>
    <dgm:pt modelId="{5F1F87F4-6A18-4B64-A864-90343D56A084}" type="parTrans" cxnId="{F1A052D2-5421-4505-B89E-94C90D488114}">
      <dgm:prSet/>
      <dgm:spPr/>
      <dgm:t>
        <a:bodyPr/>
        <a:lstStyle/>
        <a:p>
          <a:endParaRPr lang="en-US"/>
        </a:p>
      </dgm:t>
    </dgm:pt>
    <dgm:pt modelId="{604DE8F9-4FA1-4751-BF24-29A58480E64C}" type="sibTrans" cxnId="{F1A052D2-5421-4505-B89E-94C90D488114}">
      <dgm:prSet/>
      <dgm:spPr/>
      <dgm:t>
        <a:bodyPr/>
        <a:lstStyle/>
        <a:p>
          <a:endParaRPr lang="en-US"/>
        </a:p>
      </dgm:t>
    </dgm:pt>
    <dgm:pt modelId="{C9E714C1-DD4D-4DA0-ADD4-8099A5187F8C}">
      <dgm:prSet/>
      <dgm:spPr/>
      <dgm:t>
        <a:bodyPr/>
        <a:lstStyle/>
        <a:p>
          <a:r>
            <a:rPr lang="en-IN"/>
            <a:t>Declaration Date </a:t>
          </a:r>
          <a:endParaRPr lang="en-US"/>
        </a:p>
      </dgm:t>
    </dgm:pt>
    <dgm:pt modelId="{3946016A-3C77-4905-95F6-369C7533B998}" type="parTrans" cxnId="{169283CF-DB07-45AB-82AA-EDE58870ED99}">
      <dgm:prSet/>
      <dgm:spPr/>
      <dgm:t>
        <a:bodyPr/>
        <a:lstStyle/>
        <a:p>
          <a:endParaRPr lang="en-US"/>
        </a:p>
      </dgm:t>
    </dgm:pt>
    <dgm:pt modelId="{FAC82D86-1EA3-43EA-8542-C34BBC7C38B1}" type="sibTrans" cxnId="{169283CF-DB07-45AB-82AA-EDE58870ED99}">
      <dgm:prSet/>
      <dgm:spPr/>
      <dgm:t>
        <a:bodyPr/>
        <a:lstStyle/>
        <a:p>
          <a:endParaRPr lang="en-US"/>
        </a:p>
      </dgm:t>
    </dgm:pt>
    <dgm:pt modelId="{5405CD32-517B-4708-A3FC-3876EF0FDCC5}">
      <dgm:prSet/>
      <dgm:spPr/>
      <dgm:t>
        <a:bodyPr/>
        <a:lstStyle/>
        <a:p>
          <a:r>
            <a:rPr lang="en-IN"/>
            <a:t>Incident Begin Date </a:t>
          </a:r>
          <a:endParaRPr lang="en-US"/>
        </a:p>
      </dgm:t>
    </dgm:pt>
    <dgm:pt modelId="{C253280D-4D72-42A6-8B82-9AF1036D9847}" type="parTrans" cxnId="{B96A8944-9DF3-4765-B16A-F49BCD13668F}">
      <dgm:prSet/>
      <dgm:spPr/>
      <dgm:t>
        <a:bodyPr/>
        <a:lstStyle/>
        <a:p>
          <a:endParaRPr lang="en-US"/>
        </a:p>
      </dgm:t>
    </dgm:pt>
    <dgm:pt modelId="{72009260-C106-43F2-948B-A79F2F4E2B98}" type="sibTrans" cxnId="{B96A8944-9DF3-4765-B16A-F49BCD13668F}">
      <dgm:prSet/>
      <dgm:spPr/>
      <dgm:t>
        <a:bodyPr/>
        <a:lstStyle/>
        <a:p>
          <a:endParaRPr lang="en-US"/>
        </a:p>
      </dgm:t>
    </dgm:pt>
    <dgm:pt modelId="{64D78127-E431-4F4F-AE48-45D90701F0A5}">
      <dgm:prSet/>
      <dgm:spPr/>
      <dgm:t>
        <a:bodyPr/>
        <a:lstStyle/>
        <a:p>
          <a:r>
            <a:rPr lang="en-IN"/>
            <a:t>Incident End Date </a:t>
          </a:r>
          <a:endParaRPr lang="en-US"/>
        </a:p>
      </dgm:t>
    </dgm:pt>
    <dgm:pt modelId="{B5862FDB-CE6D-40A3-A428-AA158D96AEBC}" type="parTrans" cxnId="{9EF93B64-447A-4146-8B7C-9CAD12F994AC}">
      <dgm:prSet/>
      <dgm:spPr/>
      <dgm:t>
        <a:bodyPr/>
        <a:lstStyle/>
        <a:p>
          <a:endParaRPr lang="en-US"/>
        </a:p>
      </dgm:t>
    </dgm:pt>
    <dgm:pt modelId="{5B984704-1EB3-48BE-9CCF-5D35479601E7}" type="sibTrans" cxnId="{9EF93B64-447A-4146-8B7C-9CAD12F994AC}">
      <dgm:prSet/>
      <dgm:spPr/>
      <dgm:t>
        <a:bodyPr/>
        <a:lstStyle/>
        <a:p>
          <a:endParaRPr lang="en-US"/>
        </a:p>
      </dgm:t>
    </dgm:pt>
    <dgm:pt modelId="{D3BF64BD-4A3D-49E0-BE7F-5B551C15667D}">
      <dgm:prSet/>
      <dgm:spPr/>
      <dgm:t>
        <a:bodyPr/>
        <a:lstStyle/>
        <a:p>
          <a:r>
            <a:rPr lang="en-IN"/>
            <a:t>IA Program Declared </a:t>
          </a:r>
          <a:endParaRPr lang="en-US"/>
        </a:p>
      </dgm:t>
    </dgm:pt>
    <dgm:pt modelId="{49F36E4A-81E8-497C-92F8-318D08ADEF56}" type="parTrans" cxnId="{89331AAF-134C-49A5-92A1-BFF39C8B0C1C}">
      <dgm:prSet/>
      <dgm:spPr/>
      <dgm:t>
        <a:bodyPr/>
        <a:lstStyle/>
        <a:p>
          <a:endParaRPr lang="en-US"/>
        </a:p>
      </dgm:t>
    </dgm:pt>
    <dgm:pt modelId="{7C638B57-96C3-48D1-A350-9FA0F3E011D5}" type="sibTrans" cxnId="{89331AAF-134C-49A5-92A1-BFF39C8B0C1C}">
      <dgm:prSet/>
      <dgm:spPr/>
      <dgm:t>
        <a:bodyPr/>
        <a:lstStyle/>
        <a:p>
          <a:endParaRPr lang="en-US"/>
        </a:p>
      </dgm:t>
    </dgm:pt>
    <dgm:pt modelId="{DE571284-20C5-44CE-980F-4557115C9DF5}">
      <dgm:prSet/>
      <dgm:spPr/>
      <dgm:t>
        <a:bodyPr/>
        <a:lstStyle/>
        <a:p>
          <a:r>
            <a:rPr lang="en-IN"/>
            <a:t>PA Program Declared </a:t>
          </a:r>
          <a:endParaRPr lang="en-US"/>
        </a:p>
      </dgm:t>
    </dgm:pt>
    <dgm:pt modelId="{538A06DB-FD41-4083-BA63-2A57065F3A80}" type="parTrans" cxnId="{8E5F5022-2DE9-410D-AF22-5E2643E0CA90}">
      <dgm:prSet/>
      <dgm:spPr/>
      <dgm:t>
        <a:bodyPr/>
        <a:lstStyle/>
        <a:p>
          <a:endParaRPr lang="en-US"/>
        </a:p>
      </dgm:t>
    </dgm:pt>
    <dgm:pt modelId="{59B2A8B7-26CD-4339-B99E-8C7B3CEB43FE}" type="sibTrans" cxnId="{8E5F5022-2DE9-410D-AF22-5E2643E0CA90}">
      <dgm:prSet/>
      <dgm:spPr/>
      <dgm:t>
        <a:bodyPr/>
        <a:lstStyle/>
        <a:p>
          <a:endParaRPr lang="en-US"/>
        </a:p>
      </dgm:t>
    </dgm:pt>
    <dgm:pt modelId="{F2BBD209-83D6-49D4-92FE-A295FB163B48}">
      <dgm:prSet/>
      <dgm:spPr/>
      <dgm:t>
        <a:bodyPr/>
        <a:lstStyle/>
        <a:p>
          <a:r>
            <a:rPr lang="en-IN"/>
            <a:t>HM Program Declared</a:t>
          </a:r>
          <a:endParaRPr lang="en-US"/>
        </a:p>
      </dgm:t>
    </dgm:pt>
    <dgm:pt modelId="{A8FE1032-C683-4095-8478-0002BC82DE78}" type="parTrans" cxnId="{C18E916A-3713-4F9D-A3ED-7B74B162AEF6}">
      <dgm:prSet/>
      <dgm:spPr/>
      <dgm:t>
        <a:bodyPr/>
        <a:lstStyle/>
        <a:p>
          <a:endParaRPr lang="en-US"/>
        </a:p>
      </dgm:t>
    </dgm:pt>
    <dgm:pt modelId="{BF172B42-47FE-4C67-8F50-4F1A6D3A05F4}" type="sibTrans" cxnId="{C18E916A-3713-4F9D-A3ED-7B74B162AEF6}">
      <dgm:prSet/>
      <dgm:spPr/>
      <dgm:t>
        <a:bodyPr/>
        <a:lstStyle/>
        <a:p>
          <a:endParaRPr lang="en-US"/>
        </a:p>
      </dgm:t>
    </dgm:pt>
    <dgm:pt modelId="{36946CD6-3A6B-44F1-A052-D81FC5408146}" type="pres">
      <dgm:prSet presAssocID="{7A7BE182-BAAC-4A99-815B-B3A8F681BBFA}" presName="linear" presStyleCnt="0">
        <dgm:presLayoutVars>
          <dgm:animLvl val="lvl"/>
          <dgm:resizeHandles val="exact"/>
        </dgm:presLayoutVars>
      </dgm:prSet>
      <dgm:spPr/>
    </dgm:pt>
    <dgm:pt modelId="{F1578238-A39F-4AF9-9BEE-AAA03388B48A}" type="pres">
      <dgm:prSet presAssocID="{8F3FADE4-5FEC-495E-B83C-F786762CD30A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BADAEC6-F35F-41ED-BF73-F0E55B6084C5}" type="pres">
      <dgm:prSet presAssocID="{9508C747-AC1A-4A7C-9B2E-318F4B8FA0CF}" presName="spacer" presStyleCnt="0"/>
      <dgm:spPr/>
    </dgm:pt>
    <dgm:pt modelId="{B1B01A62-FAE7-4BB9-B561-B08177FB6E9D}" type="pres">
      <dgm:prSet presAssocID="{0F0DD027-ECC8-43A6-9656-ACC18D3B3F9F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97D9F8E0-6208-44B0-8965-0F96B4353A7C}" type="pres">
      <dgm:prSet presAssocID="{068F3136-C246-47D3-9C84-9339BFFF3E37}" presName="spacer" presStyleCnt="0"/>
      <dgm:spPr/>
    </dgm:pt>
    <dgm:pt modelId="{05B79B90-8CDA-4ECB-A48F-26DE253EC4EA}" type="pres">
      <dgm:prSet presAssocID="{CCF0488C-A573-4C97-93BA-7273D4467CD5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287C75C7-9C50-435D-BA03-C8C780C1AE8D}" type="pres">
      <dgm:prSet presAssocID="{A080C7DF-E3C1-44F3-8FAA-A4A8AA0DF458}" presName="spacer" presStyleCnt="0"/>
      <dgm:spPr/>
    </dgm:pt>
    <dgm:pt modelId="{C80D7DB9-26D1-4373-A55D-C8CDD75EB106}" type="pres">
      <dgm:prSet presAssocID="{A7ED94C7-88A3-47A0-813F-319B01963918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CF3033FB-F365-48F9-B4AC-D26C4937DA93}" type="pres">
      <dgm:prSet presAssocID="{604DE8F9-4FA1-4751-BF24-29A58480E64C}" presName="spacer" presStyleCnt="0"/>
      <dgm:spPr/>
    </dgm:pt>
    <dgm:pt modelId="{36FC4C33-65F3-47B5-93E1-571043BE09B9}" type="pres">
      <dgm:prSet presAssocID="{C9E714C1-DD4D-4DA0-ADD4-8099A5187F8C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36C6339E-993D-4152-A21D-989C73BAC2E3}" type="pres">
      <dgm:prSet presAssocID="{FAC82D86-1EA3-43EA-8542-C34BBC7C38B1}" presName="spacer" presStyleCnt="0"/>
      <dgm:spPr/>
    </dgm:pt>
    <dgm:pt modelId="{7C4741EC-0004-46CC-82B9-01A451424FC3}" type="pres">
      <dgm:prSet presAssocID="{5405CD32-517B-4708-A3FC-3876EF0FDCC5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99B707B3-D032-4600-89C7-BC07CF910C7A}" type="pres">
      <dgm:prSet presAssocID="{72009260-C106-43F2-948B-A79F2F4E2B98}" presName="spacer" presStyleCnt="0"/>
      <dgm:spPr/>
    </dgm:pt>
    <dgm:pt modelId="{C216DBEE-129C-4685-AE01-4A4A72DCABD6}" type="pres">
      <dgm:prSet presAssocID="{64D78127-E431-4F4F-AE48-45D90701F0A5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0E3233AA-6676-4562-AB75-58CD5F70ACF4}" type="pres">
      <dgm:prSet presAssocID="{5B984704-1EB3-48BE-9CCF-5D35479601E7}" presName="spacer" presStyleCnt="0"/>
      <dgm:spPr/>
    </dgm:pt>
    <dgm:pt modelId="{8F7B3D0F-EA2A-462E-A2F3-F15EC7E568FA}" type="pres">
      <dgm:prSet presAssocID="{D3BF64BD-4A3D-49E0-BE7F-5B551C15667D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3654BC0-5277-4AE0-948C-35A62B226D01}" type="pres">
      <dgm:prSet presAssocID="{7C638B57-96C3-48D1-A350-9FA0F3E011D5}" presName="spacer" presStyleCnt="0"/>
      <dgm:spPr/>
    </dgm:pt>
    <dgm:pt modelId="{18DDB3AA-983F-4ED9-90AE-2CE46CFDD9FD}" type="pres">
      <dgm:prSet presAssocID="{DE571284-20C5-44CE-980F-4557115C9DF5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955C164A-4995-483A-9D11-3CECC534E1C2}" type="pres">
      <dgm:prSet presAssocID="{59B2A8B7-26CD-4339-B99E-8C7B3CEB43FE}" presName="spacer" presStyleCnt="0"/>
      <dgm:spPr/>
    </dgm:pt>
    <dgm:pt modelId="{317C0664-8E40-470D-9DE2-C39905894CE0}" type="pres">
      <dgm:prSet presAssocID="{F2BBD209-83D6-49D4-92FE-A295FB163B48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BCAE5503-D816-4D47-84A7-2A00E06CE53A}" type="presOf" srcId="{8F3FADE4-5FEC-495E-B83C-F786762CD30A}" destId="{F1578238-A39F-4AF9-9BEE-AAA03388B48A}" srcOrd="0" destOrd="0" presId="urn:microsoft.com/office/officeart/2005/8/layout/vList2"/>
    <dgm:cxn modelId="{823B1F22-8A95-47DF-86E6-5FECFE540682}" type="presOf" srcId="{DE571284-20C5-44CE-980F-4557115C9DF5}" destId="{18DDB3AA-983F-4ED9-90AE-2CE46CFDD9FD}" srcOrd="0" destOrd="0" presId="urn:microsoft.com/office/officeart/2005/8/layout/vList2"/>
    <dgm:cxn modelId="{8E5F5022-2DE9-410D-AF22-5E2643E0CA90}" srcId="{7A7BE182-BAAC-4A99-815B-B3A8F681BBFA}" destId="{DE571284-20C5-44CE-980F-4557115C9DF5}" srcOrd="8" destOrd="0" parTransId="{538A06DB-FD41-4083-BA63-2A57065F3A80}" sibTransId="{59B2A8B7-26CD-4339-B99E-8C7B3CEB43FE}"/>
    <dgm:cxn modelId="{20D46E30-D3E2-4221-9219-43934D130F7B}" type="presOf" srcId="{5405CD32-517B-4708-A3FC-3876EF0FDCC5}" destId="{7C4741EC-0004-46CC-82B9-01A451424FC3}" srcOrd="0" destOrd="0" presId="urn:microsoft.com/office/officeart/2005/8/layout/vList2"/>
    <dgm:cxn modelId="{55BA6C36-CCBE-499B-AED5-87E0474908D6}" type="presOf" srcId="{A7ED94C7-88A3-47A0-813F-319B01963918}" destId="{C80D7DB9-26D1-4373-A55D-C8CDD75EB106}" srcOrd="0" destOrd="0" presId="urn:microsoft.com/office/officeart/2005/8/layout/vList2"/>
    <dgm:cxn modelId="{49600B5E-E60D-472F-8818-E8AF3D637A2B}" srcId="{7A7BE182-BAAC-4A99-815B-B3A8F681BBFA}" destId="{8F3FADE4-5FEC-495E-B83C-F786762CD30A}" srcOrd="0" destOrd="0" parTransId="{B95DAF58-9729-4DC0-81B8-74CF2B181A14}" sibTransId="{9508C747-AC1A-4A7C-9B2E-318F4B8FA0CF}"/>
    <dgm:cxn modelId="{80804163-8148-49F0-8975-2AD882D0D3DE}" srcId="{7A7BE182-BAAC-4A99-815B-B3A8F681BBFA}" destId="{0F0DD027-ECC8-43A6-9656-ACC18D3B3F9F}" srcOrd="1" destOrd="0" parTransId="{ED9EECBC-6F12-430C-9A56-05DE35D2665E}" sibTransId="{068F3136-C246-47D3-9C84-9339BFFF3E37}"/>
    <dgm:cxn modelId="{9EF93B64-447A-4146-8B7C-9CAD12F994AC}" srcId="{7A7BE182-BAAC-4A99-815B-B3A8F681BBFA}" destId="{64D78127-E431-4F4F-AE48-45D90701F0A5}" srcOrd="6" destOrd="0" parTransId="{B5862FDB-CE6D-40A3-A428-AA158D96AEBC}" sibTransId="{5B984704-1EB3-48BE-9CCF-5D35479601E7}"/>
    <dgm:cxn modelId="{DD0F4044-93D4-47C8-9325-2FA25D905C6C}" type="presOf" srcId="{F2BBD209-83D6-49D4-92FE-A295FB163B48}" destId="{317C0664-8E40-470D-9DE2-C39905894CE0}" srcOrd="0" destOrd="0" presId="urn:microsoft.com/office/officeart/2005/8/layout/vList2"/>
    <dgm:cxn modelId="{B96A8944-9DF3-4765-B16A-F49BCD13668F}" srcId="{7A7BE182-BAAC-4A99-815B-B3A8F681BBFA}" destId="{5405CD32-517B-4708-A3FC-3876EF0FDCC5}" srcOrd="5" destOrd="0" parTransId="{C253280D-4D72-42A6-8B82-9AF1036D9847}" sibTransId="{72009260-C106-43F2-948B-A79F2F4E2B98}"/>
    <dgm:cxn modelId="{C18E916A-3713-4F9D-A3ED-7B74B162AEF6}" srcId="{7A7BE182-BAAC-4A99-815B-B3A8F681BBFA}" destId="{F2BBD209-83D6-49D4-92FE-A295FB163B48}" srcOrd="9" destOrd="0" parTransId="{A8FE1032-C683-4095-8478-0002BC82DE78}" sibTransId="{BF172B42-47FE-4C67-8F50-4F1A6D3A05F4}"/>
    <dgm:cxn modelId="{7D264784-B2AD-406E-AEE1-9CEC4BFBA9C8}" type="presOf" srcId="{64D78127-E431-4F4F-AE48-45D90701F0A5}" destId="{C216DBEE-129C-4685-AE01-4A4A72DCABD6}" srcOrd="0" destOrd="0" presId="urn:microsoft.com/office/officeart/2005/8/layout/vList2"/>
    <dgm:cxn modelId="{98DB8589-783D-4F69-A91D-7745551654EF}" type="presOf" srcId="{D3BF64BD-4A3D-49E0-BE7F-5B551C15667D}" destId="{8F7B3D0F-EA2A-462E-A2F3-F15EC7E568FA}" srcOrd="0" destOrd="0" presId="urn:microsoft.com/office/officeart/2005/8/layout/vList2"/>
    <dgm:cxn modelId="{E8864FA9-61FB-42A1-8091-61D72703147F}" type="presOf" srcId="{7A7BE182-BAAC-4A99-815B-B3A8F681BBFA}" destId="{36946CD6-3A6B-44F1-A052-D81FC5408146}" srcOrd="0" destOrd="0" presId="urn:microsoft.com/office/officeart/2005/8/layout/vList2"/>
    <dgm:cxn modelId="{89331AAF-134C-49A5-92A1-BFF39C8B0C1C}" srcId="{7A7BE182-BAAC-4A99-815B-B3A8F681BBFA}" destId="{D3BF64BD-4A3D-49E0-BE7F-5B551C15667D}" srcOrd="7" destOrd="0" parTransId="{49F36E4A-81E8-497C-92F8-318D08ADEF56}" sibTransId="{7C638B57-96C3-48D1-A350-9FA0F3E011D5}"/>
    <dgm:cxn modelId="{E112D7B9-E2D3-4E5D-BA26-6D8D8A9A3010}" type="presOf" srcId="{CCF0488C-A573-4C97-93BA-7273D4467CD5}" destId="{05B79B90-8CDA-4ECB-A48F-26DE253EC4EA}" srcOrd="0" destOrd="0" presId="urn:microsoft.com/office/officeart/2005/8/layout/vList2"/>
    <dgm:cxn modelId="{169283CF-DB07-45AB-82AA-EDE58870ED99}" srcId="{7A7BE182-BAAC-4A99-815B-B3A8F681BBFA}" destId="{C9E714C1-DD4D-4DA0-ADD4-8099A5187F8C}" srcOrd="4" destOrd="0" parTransId="{3946016A-3C77-4905-95F6-369C7533B998}" sibTransId="{FAC82D86-1EA3-43EA-8542-C34BBC7C38B1}"/>
    <dgm:cxn modelId="{F1A052D2-5421-4505-B89E-94C90D488114}" srcId="{7A7BE182-BAAC-4A99-815B-B3A8F681BBFA}" destId="{A7ED94C7-88A3-47A0-813F-319B01963918}" srcOrd="3" destOrd="0" parTransId="{5F1F87F4-6A18-4B64-A864-90343D56A084}" sibTransId="{604DE8F9-4FA1-4751-BF24-29A58480E64C}"/>
    <dgm:cxn modelId="{DB3844E0-2F85-41D5-9A1D-1FA1CD4AFA50}" srcId="{7A7BE182-BAAC-4A99-815B-B3A8F681BBFA}" destId="{CCF0488C-A573-4C97-93BA-7273D4467CD5}" srcOrd="2" destOrd="0" parTransId="{01EC3D0F-28C3-43DD-9C41-67D02FC4C95D}" sibTransId="{A080C7DF-E3C1-44F3-8FAA-A4A8AA0DF458}"/>
    <dgm:cxn modelId="{590B22E7-4DF2-43E4-AB0A-B76C56F0E6A9}" type="presOf" srcId="{C9E714C1-DD4D-4DA0-ADD4-8099A5187F8C}" destId="{36FC4C33-65F3-47B5-93E1-571043BE09B9}" srcOrd="0" destOrd="0" presId="urn:microsoft.com/office/officeart/2005/8/layout/vList2"/>
    <dgm:cxn modelId="{490336ED-18FC-4A16-9540-33C83AEB2A1E}" type="presOf" srcId="{0F0DD027-ECC8-43A6-9656-ACC18D3B3F9F}" destId="{B1B01A62-FAE7-4BB9-B561-B08177FB6E9D}" srcOrd="0" destOrd="0" presId="urn:microsoft.com/office/officeart/2005/8/layout/vList2"/>
    <dgm:cxn modelId="{1E65EB2F-24CC-459F-A77F-DD08671F0DF9}" type="presParOf" srcId="{36946CD6-3A6B-44F1-A052-D81FC5408146}" destId="{F1578238-A39F-4AF9-9BEE-AAA03388B48A}" srcOrd="0" destOrd="0" presId="urn:microsoft.com/office/officeart/2005/8/layout/vList2"/>
    <dgm:cxn modelId="{9F747069-693B-4456-82A1-E727B2D1CFB4}" type="presParOf" srcId="{36946CD6-3A6B-44F1-A052-D81FC5408146}" destId="{1BADAEC6-F35F-41ED-BF73-F0E55B6084C5}" srcOrd="1" destOrd="0" presId="urn:microsoft.com/office/officeart/2005/8/layout/vList2"/>
    <dgm:cxn modelId="{05C64498-8FF9-4557-B32D-310072C01CAB}" type="presParOf" srcId="{36946CD6-3A6B-44F1-A052-D81FC5408146}" destId="{B1B01A62-FAE7-4BB9-B561-B08177FB6E9D}" srcOrd="2" destOrd="0" presId="urn:microsoft.com/office/officeart/2005/8/layout/vList2"/>
    <dgm:cxn modelId="{DB1A964C-283A-480F-923D-20B37CA96ED2}" type="presParOf" srcId="{36946CD6-3A6B-44F1-A052-D81FC5408146}" destId="{97D9F8E0-6208-44B0-8965-0F96B4353A7C}" srcOrd="3" destOrd="0" presId="urn:microsoft.com/office/officeart/2005/8/layout/vList2"/>
    <dgm:cxn modelId="{17C74FF5-83C1-4596-BC69-83673238F728}" type="presParOf" srcId="{36946CD6-3A6B-44F1-A052-D81FC5408146}" destId="{05B79B90-8CDA-4ECB-A48F-26DE253EC4EA}" srcOrd="4" destOrd="0" presId="urn:microsoft.com/office/officeart/2005/8/layout/vList2"/>
    <dgm:cxn modelId="{09489228-E3FA-42C8-BC1F-48159BEBF627}" type="presParOf" srcId="{36946CD6-3A6B-44F1-A052-D81FC5408146}" destId="{287C75C7-9C50-435D-BA03-C8C780C1AE8D}" srcOrd="5" destOrd="0" presId="urn:microsoft.com/office/officeart/2005/8/layout/vList2"/>
    <dgm:cxn modelId="{854D14B5-CB9B-4536-829C-BB44F84709FC}" type="presParOf" srcId="{36946CD6-3A6B-44F1-A052-D81FC5408146}" destId="{C80D7DB9-26D1-4373-A55D-C8CDD75EB106}" srcOrd="6" destOrd="0" presId="urn:microsoft.com/office/officeart/2005/8/layout/vList2"/>
    <dgm:cxn modelId="{B620A662-6FA3-41AC-B177-247BB3449769}" type="presParOf" srcId="{36946CD6-3A6B-44F1-A052-D81FC5408146}" destId="{CF3033FB-F365-48F9-B4AC-D26C4937DA93}" srcOrd="7" destOrd="0" presId="urn:microsoft.com/office/officeart/2005/8/layout/vList2"/>
    <dgm:cxn modelId="{71E96172-52A1-4131-B0AA-842E5D7ADD4F}" type="presParOf" srcId="{36946CD6-3A6B-44F1-A052-D81FC5408146}" destId="{36FC4C33-65F3-47B5-93E1-571043BE09B9}" srcOrd="8" destOrd="0" presId="urn:microsoft.com/office/officeart/2005/8/layout/vList2"/>
    <dgm:cxn modelId="{382BE8CC-28DD-4018-B422-F55199131B7F}" type="presParOf" srcId="{36946CD6-3A6B-44F1-A052-D81FC5408146}" destId="{36C6339E-993D-4152-A21D-989C73BAC2E3}" srcOrd="9" destOrd="0" presId="urn:microsoft.com/office/officeart/2005/8/layout/vList2"/>
    <dgm:cxn modelId="{39A5EDAB-FB2E-430F-8025-4906D804661C}" type="presParOf" srcId="{36946CD6-3A6B-44F1-A052-D81FC5408146}" destId="{7C4741EC-0004-46CC-82B9-01A451424FC3}" srcOrd="10" destOrd="0" presId="urn:microsoft.com/office/officeart/2005/8/layout/vList2"/>
    <dgm:cxn modelId="{3C14EDF3-37CB-4607-90BB-107C34DBABD8}" type="presParOf" srcId="{36946CD6-3A6B-44F1-A052-D81FC5408146}" destId="{99B707B3-D032-4600-89C7-BC07CF910C7A}" srcOrd="11" destOrd="0" presId="urn:microsoft.com/office/officeart/2005/8/layout/vList2"/>
    <dgm:cxn modelId="{5865589B-7103-4FAA-AE46-07DC69AD2351}" type="presParOf" srcId="{36946CD6-3A6B-44F1-A052-D81FC5408146}" destId="{C216DBEE-129C-4685-AE01-4A4A72DCABD6}" srcOrd="12" destOrd="0" presId="urn:microsoft.com/office/officeart/2005/8/layout/vList2"/>
    <dgm:cxn modelId="{D1786E3F-833D-4CE6-92AC-7540B6885F7E}" type="presParOf" srcId="{36946CD6-3A6B-44F1-A052-D81FC5408146}" destId="{0E3233AA-6676-4562-AB75-58CD5F70ACF4}" srcOrd="13" destOrd="0" presId="urn:microsoft.com/office/officeart/2005/8/layout/vList2"/>
    <dgm:cxn modelId="{F1EE81D4-4B63-488A-B390-70899F586617}" type="presParOf" srcId="{36946CD6-3A6B-44F1-A052-D81FC5408146}" destId="{8F7B3D0F-EA2A-462E-A2F3-F15EC7E568FA}" srcOrd="14" destOrd="0" presId="urn:microsoft.com/office/officeart/2005/8/layout/vList2"/>
    <dgm:cxn modelId="{57F014F5-77AF-4384-97D2-257C10BCDEC8}" type="presParOf" srcId="{36946CD6-3A6B-44F1-A052-D81FC5408146}" destId="{B3654BC0-5277-4AE0-948C-35A62B226D01}" srcOrd="15" destOrd="0" presId="urn:microsoft.com/office/officeart/2005/8/layout/vList2"/>
    <dgm:cxn modelId="{04C9F93B-CB80-42AB-81A8-F275D2A76F39}" type="presParOf" srcId="{36946CD6-3A6B-44F1-A052-D81FC5408146}" destId="{18DDB3AA-983F-4ED9-90AE-2CE46CFDD9FD}" srcOrd="16" destOrd="0" presId="urn:microsoft.com/office/officeart/2005/8/layout/vList2"/>
    <dgm:cxn modelId="{3D66E9FA-15B9-4AFE-9873-DF7BEB7D4977}" type="presParOf" srcId="{36946CD6-3A6B-44F1-A052-D81FC5408146}" destId="{955C164A-4995-483A-9D11-3CECC534E1C2}" srcOrd="17" destOrd="0" presId="urn:microsoft.com/office/officeart/2005/8/layout/vList2"/>
    <dgm:cxn modelId="{1B6A753A-C8A1-4792-9DCA-DDAD5F2547EE}" type="presParOf" srcId="{36946CD6-3A6B-44F1-A052-D81FC5408146}" destId="{317C0664-8E40-470D-9DE2-C39905894CE0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1D9FF5-D0F9-46EB-B60F-3E10A9ADCF2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7F2AF2-3244-42D1-92EB-519E20A6E487}">
      <dgm:prSet/>
      <dgm:spPr/>
      <dgm:t>
        <a:bodyPr/>
        <a:lstStyle/>
        <a:p>
          <a:r>
            <a:rPr lang="en-IN" b="1"/>
            <a:t>Data Cleaning &amp; Transformation Steps</a:t>
          </a:r>
          <a:endParaRPr lang="en-US"/>
        </a:p>
      </dgm:t>
    </dgm:pt>
    <dgm:pt modelId="{46FE3AC7-CD47-481D-957A-93C7E74E1856}" type="parTrans" cxnId="{2AE9A744-462F-44F4-88BC-4466A9018717}">
      <dgm:prSet/>
      <dgm:spPr/>
      <dgm:t>
        <a:bodyPr/>
        <a:lstStyle/>
        <a:p>
          <a:endParaRPr lang="en-US"/>
        </a:p>
      </dgm:t>
    </dgm:pt>
    <dgm:pt modelId="{6CC6C5EA-689B-49F9-A01B-C307AC850C28}" type="sibTrans" cxnId="{2AE9A744-462F-44F4-88BC-4466A9018717}">
      <dgm:prSet/>
      <dgm:spPr/>
      <dgm:t>
        <a:bodyPr/>
        <a:lstStyle/>
        <a:p>
          <a:endParaRPr lang="en-US"/>
        </a:p>
      </dgm:t>
    </dgm:pt>
    <dgm:pt modelId="{B1785AE3-4977-44BB-99E6-608B16A34C81}">
      <dgm:prSet/>
      <dgm:spPr/>
      <dgm:t>
        <a:bodyPr/>
        <a:lstStyle/>
        <a:p>
          <a:r>
            <a:rPr lang="en-IN"/>
            <a:t>✅ Imported FEMA Disaster Declarations CSV dataset</a:t>
          </a:r>
          <a:endParaRPr lang="en-US"/>
        </a:p>
      </dgm:t>
    </dgm:pt>
    <dgm:pt modelId="{33FE5221-60F1-4354-8242-C2126B9054D3}" type="parTrans" cxnId="{6D705031-A089-4157-B931-BCAD74EB311A}">
      <dgm:prSet/>
      <dgm:spPr/>
      <dgm:t>
        <a:bodyPr/>
        <a:lstStyle/>
        <a:p>
          <a:endParaRPr lang="en-US"/>
        </a:p>
      </dgm:t>
    </dgm:pt>
    <dgm:pt modelId="{ACA7AE64-1917-45A3-B9C3-2C62C7F94910}" type="sibTrans" cxnId="{6D705031-A089-4157-B931-BCAD74EB311A}">
      <dgm:prSet/>
      <dgm:spPr/>
      <dgm:t>
        <a:bodyPr/>
        <a:lstStyle/>
        <a:p>
          <a:endParaRPr lang="en-US"/>
        </a:p>
      </dgm:t>
    </dgm:pt>
    <dgm:pt modelId="{86080451-3281-4D16-9378-BF11F341CB47}">
      <dgm:prSet/>
      <dgm:spPr/>
      <dgm:t>
        <a:bodyPr/>
        <a:lstStyle/>
        <a:p>
          <a:r>
            <a:rPr lang="en-IN"/>
            <a:t>✅ Promoted the first row as column headers</a:t>
          </a:r>
          <a:endParaRPr lang="en-US"/>
        </a:p>
      </dgm:t>
    </dgm:pt>
    <dgm:pt modelId="{F008BED9-9BF6-432C-95B3-6D2430712FCC}" type="parTrans" cxnId="{DDC18FC4-DCA9-4EFF-AD5B-4FA68F653C09}">
      <dgm:prSet/>
      <dgm:spPr/>
      <dgm:t>
        <a:bodyPr/>
        <a:lstStyle/>
        <a:p>
          <a:endParaRPr lang="en-US"/>
        </a:p>
      </dgm:t>
    </dgm:pt>
    <dgm:pt modelId="{36CF9120-9D57-4BC8-8ACE-CAE2F7F03C77}" type="sibTrans" cxnId="{DDC18FC4-DCA9-4EFF-AD5B-4FA68F653C09}">
      <dgm:prSet/>
      <dgm:spPr/>
      <dgm:t>
        <a:bodyPr/>
        <a:lstStyle/>
        <a:p>
          <a:endParaRPr lang="en-US"/>
        </a:p>
      </dgm:t>
    </dgm:pt>
    <dgm:pt modelId="{84956001-9F40-4797-A454-CC17226CC56F}">
      <dgm:prSet/>
      <dgm:spPr/>
      <dgm:t>
        <a:bodyPr/>
        <a:lstStyle/>
        <a:p>
          <a:r>
            <a:rPr lang="en-IN"/>
            <a:t>✅ Removed unnecessary columns (id, hash, last_ia_filing_date)</a:t>
          </a:r>
          <a:endParaRPr lang="en-US"/>
        </a:p>
      </dgm:t>
    </dgm:pt>
    <dgm:pt modelId="{9EB0FBA6-8E5B-49CD-8CE2-67F2054D3767}" type="parTrans" cxnId="{38A984F3-8EF2-46CB-9865-BFEB6856C671}">
      <dgm:prSet/>
      <dgm:spPr/>
      <dgm:t>
        <a:bodyPr/>
        <a:lstStyle/>
        <a:p>
          <a:endParaRPr lang="en-US"/>
        </a:p>
      </dgm:t>
    </dgm:pt>
    <dgm:pt modelId="{549233CB-9C1F-4766-854E-F7B7F3F38A9D}" type="sibTrans" cxnId="{38A984F3-8EF2-46CB-9865-BFEB6856C671}">
      <dgm:prSet/>
      <dgm:spPr/>
      <dgm:t>
        <a:bodyPr/>
        <a:lstStyle/>
        <a:p>
          <a:endParaRPr lang="en-US"/>
        </a:p>
      </dgm:t>
    </dgm:pt>
    <dgm:pt modelId="{0C664DA9-87F3-4B16-8C87-4CD933026C06}">
      <dgm:prSet/>
      <dgm:spPr/>
      <dgm:t>
        <a:bodyPr/>
        <a:lstStyle/>
        <a:p>
          <a:r>
            <a:rPr lang="en-IN"/>
            <a:t>✅ Trimmed leading and trailing spaces from text fields</a:t>
          </a:r>
          <a:endParaRPr lang="en-US"/>
        </a:p>
      </dgm:t>
    </dgm:pt>
    <dgm:pt modelId="{F558D522-19DE-4B31-856B-3C292D849B86}" type="parTrans" cxnId="{2029D225-5D29-4397-8A42-1A7CD99062DF}">
      <dgm:prSet/>
      <dgm:spPr/>
      <dgm:t>
        <a:bodyPr/>
        <a:lstStyle/>
        <a:p>
          <a:endParaRPr lang="en-US"/>
        </a:p>
      </dgm:t>
    </dgm:pt>
    <dgm:pt modelId="{A9CA4D2A-318F-4D96-B002-63F17BFABD0A}" type="sibTrans" cxnId="{2029D225-5D29-4397-8A42-1A7CD99062DF}">
      <dgm:prSet/>
      <dgm:spPr/>
      <dgm:t>
        <a:bodyPr/>
        <a:lstStyle/>
        <a:p>
          <a:endParaRPr lang="en-US"/>
        </a:p>
      </dgm:t>
    </dgm:pt>
    <dgm:pt modelId="{46C66693-67E1-4AB2-B488-5145609A6E13}">
      <dgm:prSet/>
      <dgm:spPr/>
      <dgm:t>
        <a:bodyPr/>
        <a:lstStyle/>
        <a:p>
          <a:r>
            <a:rPr lang="en-IN"/>
            <a:t>✅ Cleaned non-printable characters from text columns</a:t>
          </a:r>
          <a:endParaRPr lang="en-US"/>
        </a:p>
      </dgm:t>
    </dgm:pt>
    <dgm:pt modelId="{5F019C98-0037-472C-B02C-FB924778E090}" type="parTrans" cxnId="{B4A30B77-EAB6-40D1-A14A-8736758718C2}">
      <dgm:prSet/>
      <dgm:spPr/>
      <dgm:t>
        <a:bodyPr/>
        <a:lstStyle/>
        <a:p>
          <a:endParaRPr lang="en-US"/>
        </a:p>
      </dgm:t>
    </dgm:pt>
    <dgm:pt modelId="{2EAB83F9-97FE-4C87-9A93-2A1F657D3BEF}" type="sibTrans" cxnId="{B4A30B77-EAB6-40D1-A14A-8736758718C2}">
      <dgm:prSet/>
      <dgm:spPr/>
      <dgm:t>
        <a:bodyPr/>
        <a:lstStyle/>
        <a:p>
          <a:endParaRPr lang="en-US"/>
        </a:p>
      </dgm:t>
    </dgm:pt>
    <dgm:pt modelId="{8C18FA4D-F633-485D-AEEC-53BE06D7343C}">
      <dgm:prSet/>
      <dgm:spPr/>
      <dgm:t>
        <a:bodyPr/>
        <a:lstStyle/>
        <a:p>
          <a:r>
            <a:rPr lang="en-IN" dirty="0"/>
            <a:t>✅ Replaced invalid values (NA) with </a:t>
          </a:r>
          <a:r>
            <a:rPr lang="en-IN" b="1" dirty="0"/>
            <a:t>Null</a:t>
          </a:r>
          <a:endParaRPr lang="en-US" dirty="0"/>
        </a:p>
      </dgm:t>
    </dgm:pt>
    <dgm:pt modelId="{5D6E3D26-122A-4304-A556-7E738F281CAD}" type="parTrans" cxnId="{8E2E7C7A-0F57-497E-93E6-8A445BB33674}">
      <dgm:prSet/>
      <dgm:spPr/>
      <dgm:t>
        <a:bodyPr/>
        <a:lstStyle/>
        <a:p>
          <a:endParaRPr lang="en-US"/>
        </a:p>
      </dgm:t>
    </dgm:pt>
    <dgm:pt modelId="{E600F60A-00A2-429E-8271-BD4431C4C8DE}" type="sibTrans" cxnId="{8E2E7C7A-0F57-497E-93E6-8A445BB33674}">
      <dgm:prSet/>
      <dgm:spPr/>
      <dgm:t>
        <a:bodyPr/>
        <a:lstStyle/>
        <a:p>
          <a:endParaRPr lang="en-US"/>
        </a:p>
      </dgm:t>
    </dgm:pt>
    <dgm:pt modelId="{E04CBB5A-280A-4502-ADAA-7BCD9974CF2F}">
      <dgm:prSet/>
      <dgm:spPr/>
      <dgm:t>
        <a:bodyPr/>
        <a:lstStyle/>
        <a:p>
          <a:r>
            <a:rPr lang="en-IN"/>
            <a:t>✅ Converted columns to appropriate data types (Date, Number, Text)</a:t>
          </a:r>
          <a:endParaRPr lang="en-US"/>
        </a:p>
      </dgm:t>
    </dgm:pt>
    <dgm:pt modelId="{94253377-D405-488E-BA6A-AF207E87BDD2}" type="parTrans" cxnId="{571C4C0B-CE75-43C2-A07C-E7BFE7FB5DDD}">
      <dgm:prSet/>
      <dgm:spPr/>
      <dgm:t>
        <a:bodyPr/>
        <a:lstStyle/>
        <a:p>
          <a:endParaRPr lang="en-US"/>
        </a:p>
      </dgm:t>
    </dgm:pt>
    <dgm:pt modelId="{493CFC43-3ED9-48ED-B4A0-26ECC6637C3A}" type="sibTrans" cxnId="{571C4C0B-CE75-43C2-A07C-E7BFE7FB5DDD}">
      <dgm:prSet/>
      <dgm:spPr/>
      <dgm:t>
        <a:bodyPr/>
        <a:lstStyle/>
        <a:p>
          <a:endParaRPr lang="en-US"/>
        </a:p>
      </dgm:t>
    </dgm:pt>
    <dgm:pt modelId="{3EF96DF0-92C5-439D-869C-4771986DE19D}">
      <dgm:prSet/>
      <dgm:spPr/>
      <dgm:t>
        <a:bodyPr/>
        <a:lstStyle/>
        <a:p>
          <a:r>
            <a:rPr lang="en-IN"/>
            <a:t>✅ Created calculated columns:</a:t>
          </a:r>
          <a:endParaRPr lang="en-US"/>
        </a:p>
      </dgm:t>
    </dgm:pt>
    <dgm:pt modelId="{F86928D9-CAD1-433E-83B3-2CEC1FAB5DC9}" type="parTrans" cxnId="{5712D045-91F6-43E7-9D09-30568C632119}">
      <dgm:prSet/>
      <dgm:spPr/>
      <dgm:t>
        <a:bodyPr/>
        <a:lstStyle/>
        <a:p>
          <a:endParaRPr lang="en-US"/>
        </a:p>
      </dgm:t>
    </dgm:pt>
    <dgm:pt modelId="{CFB058FA-5DE2-411D-A1B4-41A8BAAF6830}" type="sibTrans" cxnId="{5712D045-91F6-43E7-9D09-30568C632119}">
      <dgm:prSet/>
      <dgm:spPr/>
      <dgm:t>
        <a:bodyPr/>
        <a:lstStyle/>
        <a:p>
          <a:endParaRPr lang="en-US"/>
        </a:p>
      </dgm:t>
    </dgm:pt>
    <dgm:pt modelId="{B2140B62-0E5C-4DED-826D-9999F8AB283F}">
      <dgm:prSet/>
      <dgm:spPr/>
      <dgm:t>
        <a:bodyPr/>
        <a:lstStyle/>
        <a:p>
          <a:r>
            <a:rPr lang="en-IN"/>
            <a:t>Disaster Duration </a:t>
          </a:r>
          <a:endParaRPr lang="en-US"/>
        </a:p>
      </dgm:t>
    </dgm:pt>
    <dgm:pt modelId="{912FA5F2-80FB-4FB1-906E-8FD157E47EE2}" type="parTrans" cxnId="{B1F3EFD8-59CD-419D-B1D3-5FA2A335F15C}">
      <dgm:prSet/>
      <dgm:spPr/>
      <dgm:t>
        <a:bodyPr/>
        <a:lstStyle/>
        <a:p>
          <a:endParaRPr lang="en-US"/>
        </a:p>
      </dgm:t>
    </dgm:pt>
    <dgm:pt modelId="{218FA4B2-497A-4EB9-B9C9-D207DCED26FF}" type="sibTrans" cxnId="{B1F3EFD8-59CD-419D-B1D3-5FA2A335F15C}">
      <dgm:prSet/>
      <dgm:spPr/>
      <dgm:t>
        <a:bodyPr/>
        <a:lstStyle/>
        <a:p>
          <a:endParaRPr lang="en-US"/>
        </a:p>
      </dgm:t>
    </dgm:pt>
    <dgm:pt modelId="{12F641DC-F18C-465A-AB67-0F943F03A138}">
      <dgm:prSet/>
      <dgm:spPr/>
      <dgm:t>
        <a:bodyPr/>
        <a:lstStyle/>
        <a:p>
          <a:r>
            <a:rPr lang="en-IN"/>
            <a:t>Time To Declaration </a:t>
          </a:r>
          <a:endParaRPr lang="en-US"/>
        </a:p>
      </dgm:t>
    </dgm:pt>
    <dgm:pt modelId="{32A47EAB-0605-4ED9-A1E6-7CE53CCEE8D6}" type="parTrans" cxnId="{7BFB6268-529F-4FBF-9890-0AB695C84F74}">
      <dgm:prSet/>
      <dgm:spPr/>
      <dgm:t>
        <a:bodyPr/>
        <a:lstStyle/>
        <a:p>
          <a:endParaRPr lang="en-US"/>
        </a:p>
      </dgm:t>
    </dgm:pt>
    <dgm:pt modelId="{316225F5-8A76-457B-8D4C-784BB67ADCEA}" type="sibTrans" cxnId="{7BFB6268-529F-4FBF-9890-0AB695C84F74}">
      <dgm:prSet/>
      <dgm:spPr/>
      <dgm:t>
        <a:bodyPr/>
        <a:lstStyle/>
        <a:p>
          <a:endParaRPr lang="en-US"/>
        </a:p>
      </dgm:t>
    </dgm:pt>
    <dgm:pt modelId="{D9D1911D-EBF6-4783-905E-DC59E66470EC}">
      <dgm:prSet/>
      <dgm:spPr/>
      <dgm:t>
        <a:bodyPr/>
        <a:lstStyle/>
        <a:p>
          <a:r>
            <a:rPr lang="en-IN"/>
            <a:t>✅ Loaded the cleaned dataset into the Power BI model</a:t>
          </a:r>
          <a:endParaRPr lang="en-US"/>
        </a:p>
      </dgm:t>
    </dgm:pt>
    <dgm:pt modelId="{1CCB973B-78F3-48E0-A4CF-F192D9BB79A2}" type="parTrans" cxnId="{52ACD0D3-1B7E-4686-B8A9-C2F7739232D9}">
      <dgm:prSet/>
      <dgm:spPr/>
      <dgm:t>
        <a:bodyPr/>
        <a:lstStyle/>
        <a:p>
          <a:endParaRPr lang="en-US"/>
        </a:p>
      </dgm:t>
    </dgm:pt>
    <dgm:pt modelId="{E7BC3649-A1C8-4F70-B222-C31D433857D9}" type="sibTrans" cxnId="{52ACD0D3-1B7E-4686-B8A9-C2F7739232D9}">
      <dgm:prSet/>
      <dgm:spPr/>
      <dgm:t>
        <a:bodyPr/>
        <a:lstStyle/>
        <a:p>
          <a:endParaRPr lang="en-US"/>
        </a:p>
      </dgm:t>
    </dgm:pt>
    <dgm:pt modelId="{5E8DD7E8-3D91-4871-BF6B-7434A19B2AD3}" type="pres">
      <dgm:prSet presAssocID="{DB1D9FF5-D0F9-46EB-B60F-3E10A9ADCF2C}" presName="Name0" presStyleCnt="0">
        <dgm:presLayoutVars>
          <dgm:dir/>
          <dgm:resizeHandles val="exact"/>
        </dgm:presLayoutVars>
      </dgm:prSet>
      <dgm:spPr/>
    </dgm:pt>
    <dgm:pt modelId="{75AD10C1-3DA3-42D9-AAA5-66FB107B65F9}" type="pres">
      <dgm:prSet presAssocID="{A67F2AF2-3244-42D1-92EB-519E20A6E487}" presName="node" presStyleLbl="node1" presStyleIdx="0" presStyleCnt="12">
        <dgm:presLayoutVars>
          <dgm:bulletEnabled val="1"/>
        </dgm:presLayoutVars>
      </dgm:prSet>
      <dgm:spPr/>
    </dgm:pt>
    <dgm:pt modelId="{1F674DEB-1087-41BE-AA89-2E26C7841D5B}" type="pres">
      <dgm:prSet presAssocID="{6CC6C5EA-689B-49F9-A01B-C307AC850C28}" presName="sibTrans" presStyleLbl="sibTrans1D1" presStyleIdx="0" presStyleCnt="11"/>
      <dgm:spPr/>
    </dgm:pt>
    <dgm:pt modelId="{8ED0AF88-8C44-4C5C-B538-C039E35B6066}" type="pres">
      <dgm:prSet presAssocID="{6CC6C5EA-689B-49F9-A01B-C307AC850C28}" presName="connectorText" presStyleLbl="sibTrans1D1" presStyleIdx="0" presStyleCnt="11"/>
      <dgm:spPr/>
    </dgm:pt>
    <dgm:pt modelId="{3F5D7577-34F1-4514-96E4-886A46352271}" type="pres">
      <dgm:prSet presAssocID="{B1785AE3-4977-44BB-99E6-608B16A34C81}" presName="node" presStyleLbl="node1" presStyleIdx="1" presStyleCnt="12">
        <dgm:presLayoutVars>
          <dgm:bulletEnabled val="1"/>
        </dgm:presLayoutVars>
      </dgm:prSet>
      <dgm:spPr/>
    </dgm:pt>
    <dgm:pt modelId="{D48854A8-BCFD-4DF9-98C2-35F4BC371568}" type="pres">
      <dgm:prSet presAssocID="{ACA7AE64-1917-45A3-B9C3-2C62C7F94910}" presName="sibTrans" presStyleLbl="sibTrans1D1" presStyleIdx="1" presStyleCnt="11"/>
      <dgm:spPr/>
    </dgm:pt>
    <dgm:pt modelId="{ACBF96C6-A50C-4AA8-9491-6F246F7AE553}" type="pres">
      <dgm:prSet presAssocID="{ACA7AE64-1917-45A3-B9C3-2C62C7F94910}" presName="connectorText" presStyleLbl="sibTrans1D1" presStyleIdx="1" presStyleCnt="11"/>
      <dgm:spPr/>
    </dgm:pt>
    <dgm:pt modelId="{0FBE9A9B-223A-4E33-9355-904E1F5949E1}" type="pres">
      <dgm:prSet presAssocID="{86080451-3281-4D16-9378-BF11F341CB47}" presName="node" presStyleLbl="node1" presStyleIdx="2" presStyleCnt="12">
        <dgm:presLayoutVars>
          <dgm:bulletEnabled val="1"/>
        </dgm:presLayoutVars>
      </dgm:prSet>
      <dgm:spPr/>
    </dgm:pt>
    <dgm:pt modelId="{9F70C529-377D-4ADB-BD7C-66B266C245FD}" type="pres">
      <dgm:prSet presAssocID="{36CF9120-9D57-4BC8-8ACE-CAE2F7F03C77}" presName="sibTrans" presStyleLbl="sibTrans1D1" presStyleIdx="2" presStyleCnt="11"/>
      <dgm:spPr/>
    </dgm:pt>
    <dgm:pt modelId="{63B1A641-9FB0-417B-99CA-26E76E4276CC}" type="pres">
      <dgm:prSet presAssocID="{36CF9120-9D57-4BC8-8ACE-CAE2F7F03C77}" presName="connectorText" presStyleLbl="sibTrans1D1" presStyleIdx="2" presStyleCnt="11"/>
      <dgm:spPr/>
    </dgm:pt>
    <dgm:pt modelId="{99A2581D-098A-40DC-976C-303EBD065ABE}" type="pres">
      <dgm:prSet presAssocID="{84956001-9F40-4797-A454-CC17226CC56F}" presName="node" presStyleLbl="node1" presStyleIdx="3" presStyleCnt="12" custLinFactNeighborX="1839" custLinFactNeighborY="6129">
        <dgm:presLayoutVars>
          <dgm:bulletEnabled val="1"/>
        </dgm:presLayoutVars>
      </dgm:prSet>
      <dgm:spPr/>
    </dgm:pt>
    <dgm:pt modelId="{874C8D38-273F-4BD1-B09E-0A4AB3FCFB51}" type="pres">
      <dgm:prSet presAssocID="{549233CB-9C1F-4766-854E-F7B7F3F38A9D}" presName="sibTrans" presStyleLbl="sibTrans1D1" presStyleIdx="3" presStyleCnt="11"/>
      <dgm:spPr/>
    </dgm:pt>
    <dgm:pt modelId="{B04ED63F-66A4-4022-9004-D4535CDBAC8A}" type="pres">
      <dgm:prSet presAssocID="{549233CB-9C1F-4766-854E-F7B7F3F38A9D}" presName="connectorText" presStyleLbl="sibTrans1D1" presStyleIdx="3" presStyleCnt="11"/>
      <dgm:spPr/>
    </dgm:pt>
    <dgm:pt modelId="{6EF4DF85-9805-4C3A-997E-7C63502CE49C}" type="pres">
      <dgm:prSet presAssocID="{0C664DA9-87F3-4B16-8C87-4CD933026C06}" presName="node" presStyleLbl="node1" presStyleIdx="4" presStyleCnt="12">
        <dgm:presLayoutVars>
          <dgm:bulletEnabled val="1"/>
        </dgm:presLayoutVars>
      </dgm:prSet>
      <dgm:spPr/>
    </dgm:pt>
    <dgm:pt modelId="{733C5051-95D8-43C6-B2AB-169C7DD70EEE}" type="pres">
      <dgm:prSet presAssocID="{A9CA4D2A-318F-4D96-B002-63F17BFABD0A}" presName="sibTrans" presStyleLbl="sibTrans1D1" presStyleIdx="4" presStyleCnt="11"/>
      <dgm:spPr/>
    </dgm:pt>
    <dgm:pt modelId="{EE4C5681-1C5A-485E-9D02-B20C2DA820F7}" type="pres">
      <dgm:prSet presAssocID="{A9CA4D2A-318F-4D96-B002-63F17BFABD0A}" presName="connectorText" presStyleLbl="sibTrans1D1" presStyleIdx="4" presStyleCnt="11"/>
      <dgm:spPr/>
    </dgm:pt>
    <dgm:pt modelId="{A3DD34D8-BF76-4502-BC28-E38C247389B2}" type="pres">
      <dgm:prSet presAssocID="{46C66693-67E1-4AB2-B488-5145609A6E13}" presName="node" presStyleLbl="node1" presStyleIdx="5" presStyleCnt="12">
        <dgm:presLayoutVars>
          <dgm:bulletEnabled val="1"/>
        </dgm:presLayoutVars>
      </dgm:prSet>
      <dgm:spPr/>
    </dgm:pt>
    <dgm:pt modelId="{7E31B6C0-459A-49F0-8AC6-09792A2340DD}" type="pres">
      <dgm:prSet presAssocID="{2EAB83F9-97FE-4C87-9A93-2A1F657D3BEF}" presName="sibTrans" presStyleLbl="sibTrans1D1" presStyleIdx="5" presStyleCnt="11"/>
      <dgm:spPr/>
    </dgm:pt>
    <dgm:pt modelId="{0DECBEA1-93BA-4BD5-ACB4-CA92A3CC0EB7}" type="pres">
      <dgm:prSet presAssocID="{2EAB83F9-97FE-4C87-9A93-2A1F657D3BEF}" presName="connectorText" presStyleLbl="sibTrans1D1" presStyleIdx="5" presStyleCnt="11"/>
      <dgm:spPr/>
    </dgm:pt>
    <dgm:pt modelId="{760D6275-93B1-4825-B474-D783AAEAD415}" type="pres">
      <dgm:prSet presAssocID="{8C18FA4D-F633-485D-AEEC-53BE06D7343C}" presName="node" presStyleLbl="node1" presStyleIdx="6" presStyleCnt="12">
        <dgm:presLayoutVars>
          <dgm:bulletEnabled val="1"/>
        </dgm:presLayoutVars>
      </dgm:prSet>
      <dgm:spPr/>
    </dgm:pt>
    <dgm:pt modelId="{65836244-F521-495D-90F5-8858BBBA25BD}" type="pres">
      <dgm:prSet presAssocID="{E600F60A-00A2-429E-8271-BD4431C4C8DE}" presName="sibTrans" presStyleLbl="sibTrans1D1" presStyleIdx="6" presStyleCnt="11"/>
      <dgm:spPr/>
    </dgm:pt>
    <dgm:pt modelId="{283F2729-AB2C-47FE-AC5C-47994896EE8A}" type="pres">
      <dgm:prSet presAssocID="{E600F60A-00A2-429E-8271-BD4431C4C8DE}" presName="connectorText" presStyleLbl="sibTrans1D1" presStyleIdx="6" presStyleCnt="11"/>
      <dgm:spPr/>
    </dgm:pt>
    <dgm:pt modelId="{744C68D3-33AE-4FE8-B02F-2BB13FA842B6}" type="pres">
      <dgm:prSet presAssocID="{E04CBB5A-280A-4502-ADAA-7BCD9974CF2F}" presName="node" presStyleLbl="node1" presStyleIdx="7" presStyleCnt="12">
        <dgm:presLayoutVars>
          <dgm:bulletEnabled val="1"/>
        </dgm:presLayoutVars>
      </dgm:prSet>
      <dgm:spPr/>
    </dgm:pt>
    <dgm:pt modelId="{9811BC4C-BBCF-43A4-B86F-D7810446E6CE}" type="pres">
      <dgm:prSet presAssocID="{493CFC43-3ED9-48ED-B4A0-26ECC6637C3A}" presName="sibTrans" presStyleLbl="sibTrans1D1" presStyleIdx="7" presStyleCnt="11"/>
      <dgm:spPr/>
    </dgm:pt>
    <dgm:pt modelId="{7A59E38C-E7B9-4933-8A31-F8DC20D9F491}" type="pres">
      <dgm:prSet presAssocID="{493CFC43-3ED9-48ED-B4A0-26ECC6637C3A}" presName="connectorText" presStyleLbl="sibTrans1D1" presStyleIdx="7" presStyleCnt="11"/>
      <dgm:spPr/>
    </dgm:pt>
    <dgm:pt modelId="{5C9FC4C7-10C6-4C54-83E9-5E92BC716C96}" type="pres">
      <dgm:prSet presAssocID="{3EF96DF0-92C5-439D-869C-4771986DE19D}" presName="node" presStyleLbl="node1" presStyleIdx="8" presStyleCnt="12">
        <dgm:presLayoutVars>
          <dgm:bulletEnabled val="1"/>
        </dgm:presLayoutVars>
      </dgm:prSet>
      <dgm:spPr/>
    </dgm:pt>
    <dgm:pt modelId="{8A013FFF-2542-4BD3-9A24-64D268670726}" type="pres">
      <dgm:prSet presAssocID="{CFB058FA-5DE2-411D-A1B4-41A8BAAF6830}" presName="sibTrans" presStyleLbl="sibTrans1D1" presStyleIdx="8" presStyleCnt="11"/>
      <dgm:spPr/>
    </dgm:pt>
    <dgm:pt modelId="{6F91B19E-86F2-4AE5-9291-F9A88791D4E0}" type="pres">
      <dgm:prSet presAssocID="{CFB058FA-5DE2-411D-A1B4-41A8BAAF6830}" presName="connectorText" presStyleLbl="sibTrans1D1" presStyleIdx="8" presStyleCnt="11"/>
      <dgm:spPr/>
    </dgm:pt>
    <dgm:pt modelId="{53F365DF-30D7-4C95-8606-9A2D921ECC08}" type="pres">
      <dgm:prSet presAssocID="{B2140B62-0E5C-4DED-826D-9999F8AB283F}" presName="node" presStyleLbl="node1" presStyleIdx="9" presStyleCnt="12">
        <dgm:presLayoutVars>
          <dgm:bulletEnabled val="1"/>
        </dgm:presLayoutVars>
      </dgm:prSet>
      <dgm:spPr/>
    </dgm:pt>
    <dgm:pt modelId="{5DB5D1CE-3853-4BC1-A735-E6542E6A437F}" type="pres">
      <dgm:prSet presAssocID="{218FA4B2-497A-4EB9-B9C9-D207DCED26FF}" presName="sibTrans" presStyleLbl="sibTrans1D1" presStyleIdx="9" presStyleCnt="11"/>
      <dgm:spPr/>
    </dgm:pt>
    <dgm:pt modelId="{AD9235E0-F04D-4D2C-9EF7-F05FD06C5BA9}" type="pres">
      <dgm:prSet presAssocID="{218FA4B2-497A-4EB9-B9C9-D207DCED26FF}" presName="connectorText" presStyleLbl="sibTrans1D1" presStyleIdx="9" presStyleCnt="11"/>
      <dgm:spPr/>
    </dgm:pt>
    <dgm:pt modelId="{61BC054D-F3AB-4FAE-86BF-FEFEFD3362BC}" type="pres">
      <dgm:prSet presAssocID="{12F641DC-F18C-465A-AB67-0F943F03A138}" presName="node" presStyleLbl="node1" presStyleIdx="10" presStyleCnt="12">
        <dgm:presLayoutVars>
          <dgm:bulletEnabled val="1"/>
        </dgm:presLayoutVars>
      </dgm:prSet>
      <dgm:spPr/>
    </dgm:pt>
    <dgm:pt modelId="{140ED901-7994-48D4-BEA1-9789FF48630D}" type="pres">
      <dgm:prSet presAssocID="{316225F5-8A76-457B-8D4C-784BB67ADCEA}" presName="sibTrans" presStyleLbl="sibTrans1D1" presStyleIdx="10" presStyleCnt="11"/>
      <dgm:spPr/>
    </dgm:pt>
    <dgm:pt modelId="{05349EB3-EEEB-47C4-B56D-4ACF2F23047B}" type="pres">
      <dgm:prSet presAssocID="{316225F5-8A76-457B-8D4C-784BB67ADCEA}" presName="connectorText" presStyleLbl="sibTrans1D1" presStyleIdx="10" presStyleCnt="11"/>
      <dgm:spPr/>
    </dgm:pt>
    <dgm:pt modelId="{8773D180-AC9B-47C2-BDB5-A6D5BF08B352}" type="pres">
      <dgm:prSet presAssocID="{D9D1911D-EBF6-4783-905E-DC59E66470EC}" presName="node" presStyleLbl="node1" presStyleIdx="11" presStyleCnt="12">
        <dgm:presLayoutVars>
          <dgm:bulletEnabled val="1"/>
        </dgm:presLayoutVars>
      </dgm:prSet>
      <dgm:spPr/>
    </dgm:pt>
  </dgm:ptLst>
  <dgm:cxnLst>
    <dgm:cxn modelId="{7FCCAE02-FE2F-406C-A53F-FB7CBA60A76A}" type="presOf" srcId="{CFB058FA-5DE2-411D-A1B4-41A8BAAF6830}" destId="{6F91B19E-86F2-4AE5-9291-F9A88791D4E0}" srcOrd="1" destOrd="0" presId="urn:microsoft.com/office/officeart/2016/7/layout/RepeatingBendingProcessNew"/>
    <dgm:cxn modelId="{793D5E03-31E5-415E-ACCD-72AD0C188F90}" type="presOf" srcId="{2EAB83F9-97FE-4C87-9A93-2A1F657D3BEF}" destId="{7E31B6C0-459A-49F0-8AC6-09792A2340DD}" srcOrd="0" destOrd="0" presId="urn:microsoft.com/office/officeart/2016/7/layout/RepeatingBendingProcessNew"/>
    <dgm:cxn modelId="{31129303-A804-4674-80C6-89D8329C6236}" type="presOf" srcId="{B1785AE3-4977-44BB-99E6-608B16A34C81}" destId="{3F5D7577-34F1-4514-96E4-886A46352271}" srcOrd="0" destOrd="0" presId="urn:microsoft.com/office/officeart/2016/7/layout/RepeatingBendingProcessNew"/>
    <dgm:cxn modelId="{571C4C0B-CE75-43C2-A07C-E7BFE7FB5DDD}" srcId="{DB1D9FF5-D0F9-46EB-B60F-3E10A9ADCF2C}" destId="{E04CBB5A-280A-4502-ADAA-7BCD9974CF2F}" srcOrd="7" destOrd="0" parTransId="{94253377-D405-488E-BA6A-AF207E87BDD2}" sibTransId="{493CFC43-3ED9-48ED-B4A0-26ECC6637C3A}"/>
    <dgm:cxn modelId="{BD56E00E-4552-4334-B257-2F8F12405788}" type="presOf" srcId="{493CFC43-3ED9-48ED-B4A0-26ECC6637C3A}" destId="{7A59E38C-E7B9-4933-8A31-F8DC20D9F491}" srcOrd="1" destOrd="0" presId="urn:microsoft.com/office/officeart/2016/7/layout/RepeatingBendingProcessNew"/>
    <dgm:cxn modelId="{6F92771D-B6AC-488F-928C-8DCD8FE7C7C1}" type="presOf" srcId="{ACA7AE64-1917-45A3-B9C3-2C62C7F94910}" destId="{D48854A8-BCFD-4DF9-98C2-35F4BC371568}" srcOrd="0" destOrd="0" presId="urn:microsoft.com/office/officeart/2016/7/layout/RepeatingBendingProcessNew"/>
    <dgm:cxn modelId="{2029D225-5D29-4397-8A42-1A7CD99062DF}" srcId="{DB1D9FF5-D0F9-46EB-B60F-3E10A9ADCF2C}" destId="{0C664DA9-87F3-4B16-8C87-4CD933026C06}" srcOrd="4" destOrd="0" parTransId="{F558D522-19DE-4B31-856B-3C292D849B86}" sibTransId="{A9CA4D2A-318F-4D96-B002-63F17BFABD0A}"/>
    <dgm:cxn modelId="{98BAE02C-9D9A-4D8D-B9E1-0597FE57887E}" type="presOf" srcId="{E600F60A-00A2-429E-8271-BD4431C4C8DE}" destId="{65836244-F521-495D-90F5-8858BBBA25BD}" srcOrd="0" destOrd="0" presId="urn:microsoft.com/office/officeart/2016/7/layout/RepeatingBendingProcessNew"/>
    <dgm:cxn modelId="{6D705031-A089-4157-B931-BCAD74EB311A}" srcId="{DB1D9FF5-D0F9-46EB-B60F-3E10A9ADCF2C}" destId="{B1785AE3-4977-44BB-99E6-608B16A34C81}" srcOrd="1" destOrd="0" parTransId="{33FE5221-60F1-4354-8242-C2126B9054D3}" sibTransId="{ACA7AE64-1917-45A3-B9C3-2C62C7F94910}"/>
    <dgm:cxn modelId="{C496F431-67CA-4AF1-B177-F0CD986288D2}" type="presOf" srcId="{218FA4B2-497A-4EB9-B9C9-D207DCED26FF}" destId="{AD9235E0-F04D-4D2C-9EF7-F05FD06C5BA9}" srcOrd="1" destOrd="0" presId="urn:microsoft.com/office/officeart/2016/7/layout/RepeatingBendingProcessNew"/>
    <dgm:cxn modelId="{2741B632-C947-4D96-9970-1A716A49735B}" type="presOf" srcId="{6CC6C5EA-689B-49F9-A01B-C307AC850C28}" destId="{8ED0AF88-8C44-4C5C-B538-C039E35B6066}" srcOrd="1" destOrd="0" presId="urn:microsoft.com/office/officeart/2016/7/layout/RepeatingBendingProcessNew"/>
    <dgm:cxn modelId="{71BA1C35-19FA-4A6B-BCE7-35D6290D1E22}" type="presOf" srcId="{493CFC43-3ED9-48ED-B4A0-26ECC6637C3A}" destId="{9811BC4C-BBCF-43A4-B86F-D7810446E6CE}" srcOrd="0" destOrd="0" presId="urn:microsoft.com/office/officeart/2016/7/layout/RepeatingBendingProcessNew"/>
    <dgm:cxn modelId="{FC9CAC3D-B423-42D3-AA6B-FFBF590249A7}" type="presOf" srcId="{A9CA4D2A-318F-4D96-B002-63F17BFABD0A}" destId="{733C5051-95D8-43C6-B2AB-169C7DD70EEE}" srcOrd="0" destOrd="0" presId="urn:microsoft.com/office/officeart/2016/7/layout/RepeatingBendingProcessNew"/>
    <dgm:cxn modelId="{A9ECD93D-AE4D-4125-B4E3-68F3C7B660E7}" type="presOf" srcId="{6CC6C5EA-689B-49F9-A01B-C307AC850C28}" destId="{1F674DEB-1087-41BE-AA89-2E26C7841D5B}" srcOrd="0" destOrd="0" presId="urn:microsoft.com/office/officeart/2016/7/layout/RepeatingBendingProcessNew"/>
    <dgm:cxn modelId="{8AE49A5F-698D-401D-B4C3-73758C6401B7}" type="presOf" srcId="{316225F5-8A76-457B-8D4C-784BB67ADCEA}" destId="{05349EB3-EEEB-47C4-B56D-4ACF2F23047B}" srcOrd="1" destOrd="0" presId="urn:microsoft.com/office/officeart/2016/7/layout/RepeatingBendingProcessNew"/>
    <dgm:cxn modelId="{8FE1A360-23B5-4E16-BA85-C71194ECA286}" type="presOf" srcId="{0C664DA9-87F3-4B16-8C87-4CD933026C06}" destId="{6EF4DF85-9805-4C3A-997E-7C63502CE49C}" srcOrd="0" destOrd="0" presId="urn:microsoft.com/office/officeart/2016/7/layout/RepeatingBendingProcessNew"/>
    <dgm:cxn modelId="{A704F943-A63E-4DE0-A224-F46F7320182A}" type="presOf" srcId="{3EF96DF0-92C5-439D-869C-4771986DE19D}" destId="{5C9FC4C7-10C6-4C54-83E9-5E92BC716C96}" srcOrd="0" destOrd="0" presId="urn:microsoft.com/office/officeart/2016/7/layout/RepeatingBendingProcessNew"/>
    <dgm:cxn modelId="{2AE9A744-462F-44F4-88BC-4466A9018717}" srcId="{DB1D9FF5-D0F9-46EB-B60F-3E10A9ADCF2C}" destId="{A67F2AF2-3244-42D1-92EB-519E20A6E487}" srcOrd="0" destOrd="0" parTransId="{46FE3AC7-CD47-481D-957A-93C7E74E1856}" sibTransId="{6CC6C5EA-689B-49F9-A01B-C307AC850C28}"/>
    <dgm:cxn modelId="{5712D045-91F6-43E7-9D09-30568C632119}" srcId="{DB1D9FF5-D0F9-46EB-B60F-3E10A9ADCF2C}" destId="{3EF96DF0-92C5-439D-869C-4771986DE19D}" srcOrd="8" destOrd="0" parTransId="{F86928D9-CAD1-433E-83B3-2CEC1FAB5DC9}" sibTransId="{CFB058FA-5DE2-411D-A1B4-41A8BAAF6830}"/>
    <dgm:cxn modelId="{9E1EBA46-1DC2-4C04-BF7D-F8FC26805192}" type="presOf" srcId="{84956001-9F40-4797-A454-CC17226CC56F}" destId="{99A2581D-098A-40DC-976C-303EBD065ABE}" srcOrd="0" destOrd="0" presId="urn:microsoft.com/office/officeart/2016/7/layout/RepeatingBendingProcessNew"/>
    <dgm:cxn modelId="{9CB40847-18E7-4306-998A-E031344A483E}" type="presOf" srcId="{CFB058FA-5DE2-411D-A1B4-41A8BAAF6830}" destId="{8A013FFF-2542-4BD3-9A24-64D268670726}" srcOrd="0" destOrd="0" presId="urn:microsoft.com/office/officeart/2016/7/layout/RepeatingBendingProcessNew"/>
    <dgm:cxn modelId="{7BFB6268-529F-4FBF-9890-0AB695C84F74}" srcId="{DB1D9FF5-D0F9-46EB-B60F-3E10A9ADCF2C}" destId="{12F641DC-F18C-465A-AB67-0F943F03A138}" srcOrd="10" destOrd="0" parTransId="{32A47EAB-0605-4ED9-A1E6-7CE53CCEE8D6}" sibTransId="{316225F5-8A76-457B-8D4C-784BB67ADCEA}"/>
    <dgm:cxn modelId="{152A1A4D-7D41-4E0F-9331-3936CB5586F2}" type="presOf" srcId="{DB1D9FF5-D0F9-46EB-B60F-3E10A9ADCF2C}" destId="{5E8DD7E8-3D91-4871-BF6B-7434A19B2AD3}" srcOrd="0" destOrd="0" presId="urn:microsoft.com/office/officeart/2016/7/layout/RepeatingBendingProcessNew"/>
    <dgm:cxn modelId="{D2C3B252-5230-4015-B444-E8088E68CA09}" type="presOf" srcId="{D9D1911D-EBF6-4783-905E-DC59E66470EC}" destId="{8773D180-AC9B-47C2-BDB5-A6D5BF08B352}" srcOrd="0" destOrd="0" presId="urn:microsoft.com/office/officeart/2016/7/layout/RepeatingBendingProcessNew"/>
    <dgm:cxn modelId="{B4A30B77-EAB6-40D1-A14A-8736758718C2}" srcId="{DB1D9FF5-D0F9-46EB-B60F-3E10A9ADCF2C}" destId="{46C66693-67E1-4AB2-B488-5145609A6E13}" srcOrd="5" destOrd="0" parTransId="{5F019C98-0037-472C-B02C-FB924778E090}" sibTransId="{2EAB83F9-97FE-4C87-9A93-2A1F657D3BEF}"/>
    <dgm:cxn modelId="{8E2E7C7A-0F57-497E-93E6-8A445BB33674}" srcId="{DB1D9FF5-D0F9-46EB-B60F-3E10A9ADCF2C}" destId="{8C18FA4D-F633-485D-AEEC-53BE06D7343C}" srcOrd="6" destOrd="0" parTransId="{5D6E3D26-122A-4304-A556-7E738F281CAD}" sibTransId="{E600F60A-00A2-429E-8271-BD4431C4C8DE}"/>
    <dgm:cxn modelId="{3979898B-8150-4B36-9DFF-BF9EB4151C75}" type="presOf" srcId="{316225F5-8A76-457B-8D4C-784BB67ADCEA}" destId="{140ED901-7994-48D4-BEA1-9789FF48630D}" srcOrd="0" destOrd="0" presId="urn:microsoft.com/office/officeart/2016/7/layout/RepeatingBendingProcessNew"/>
    <dgm:cxn modelId="{1FE8168E-EEC8-468A-AD5D-2D158CF2A430}" type="presOf" srcId="{36CF9120-9D57-4BC8-8ACE-CAE2F7F03C77}" destId="{9F70C529-377D-4ADB-BD7C-66B266C245FD}" srcOrd="0" destOrd="0" presId="urn:microsoft.com/office/officeart/2016/7/layout/RepeatingBendingProcessNew"/>
    <dgm:cxn modelId="{E7E0899C-8CC8-47B5-BA69-03C51E18F953}" type="presOf" srcId="{ACA7AE64-1917-45A3-B9C3-2C62C7F94910}" destId="{ACBF96C6-A50C-4AA8-9491-6F246F7AE553}" srcOrd="1" destOrd="0" presId="urn:microsoft.com/office/officeart/2016/7/layout/RepeatingBendingProcessNew"/>
    <dgm:cxn modelId="{DFF182BA-48B9-4FF6-AE1C-245F4FF6D5FA}" type="presOf" srcId="{549233CB-9C1F-4766-854E-F7B7F3F38A9D}" destId="{B04ED63F-66A4-4022-9004-D4535CDBAC8A}" srcOrd="1" destOrd="0" presId="urn:microsoft.com/office/officeart/2016/7/layout/RepeatingBendingProcessNew"/>
    <dgm:cxn modelId="{27896EBC-9726-42D8-AE66-259EE7FB526A}" type="presOf" srcId="{B2140B62-0E5C-4DED-826D-9999F8AB283F}" destId="{53F365DF-30D7-4C95-8606-9A2D921ECC08}" srcOrd="0" destOrd="0" presId="urn:microsoft.com/office/officeart/2016/7/layout/RepeatingBendingProcessNew"/>
    <dgm:cxn modelId="{3621C0C0-DDB3-40F0-A8B3-CDF109CDE0BD}" type="presOf" srcId="{12F641DC-F18C-465A-AB67-0F943F03A138}" destId="{61BC054D-F3AB-4FAE-86BF-FEFEFD3362BC}" srcOrd="0" destOrd="0" presId="urn:microsoft.com/office/officeart/2016/7/layout/RepeatingBendingProcessNew"/>
    <dgm:cxn modelId="{DDC18FC4-DCA9-4EFF-AD5B-4FA68F653C09}" srcId="{DB1D9FF5-D0F9-46EB-B60F-3E10A9ADCF2C}" destId="{86080451-3281-4D16-9378-BF11F341CB47}" srcOrd="2" destOrd="0" parTransId="{F008BED9-9BF6-432C-95B3-6D2430712FCC}" sibTransId="{36CF9120-9D57-4BC8-8ACE-CAE2F7F03C77}"/>
    <dgm:cxn modelId="{D88D42C8-DEA9-4508-9889-07719C219B79}" type="presOf" srcId="{A67F2AF2-3244-42D1-92EB-519E20A6E487}" destId="{75AD10C1-3DA3-42D9-AAA5-66FB107B65F9}" srcOrd="0" destOrd="0" presId="urn:microsoft.com/office/officeart/2016/7/layout/RepeatingBendingProcessNew"/>
    <dgm:cxn modelId="{B17E2DC9-D2EB-429F-BF43-5ADB6F4C5203}" type="presOf" srcId="{E600F60A-00A2-429E-8271-BD4431C4C8DE}" destId="{283F2729-AB2C-47FE-AC5C-47994896EE8A}" srcOrd="1" destOrd="0" presId="urn:microsoft.com/office/officeart/2016/7/layout/RepeatingBendingProcessNew"/>
    <dgm:cxn modelId="{C9EA31C9-B646-49F0-9912-F06563227D68}" type="presOf" srcId="{8C18FA4D-F633-485D-AEEC-53BE06D7343C}" destId="{760D6275-93B1-4825-B474-D783AAEAD415}" srcOrd="0" destOrd="0" presId="urn:microsoft.com/office/officeart/2016/7/layout/RepeatingBendingProcessNew"/>
    <dgm:cxn modelId="{3B8A76C9-0C61-4B50-95C9-59FB6CAD8697}" type="presOf" srcId="{36CF9120-9D57-4BC8-8ACE-CAE2F7F03C77}" destId="{63B1A641-9FB0-417B-99CA-26E76E4276CC}" srcOrd="1" destOrd="0" presId="urn:microsoft.com/office/officeart/2016/7/layout/RepeatingBendingProcessNew"/>
    <dgm:cxn modelId="{4F9DAFCC-8F6B-452F-AEEF-5474BE0D9783}" type="presOf" srcId="{2EAB83F9-97FE-4C87-9A93-2A1F657D3BEF}" destId="{0DECBEA1-93BA-4BD5-ACB4-CA92A3CC0EB7}" srcOrd="1" destOrd="0" presId="urn:microsoft.com/office/officeart/2016/7/layout/RepeatingBendingProcessNew"/>
    <dgm:cxn modelId="{B9AE37D1-60BD-462D-A787-8774CB0DFC36}" type="presOf" srcId="{218FA4B2-497A-4EB9-B9C9-D207DCED26FF}" destId="{5DB5D1CE-3853-4BC1-A735-E6542E6A437F}" srcOrd="0" destOrd="0" presId="urn:microsoft.com/office/officeart/2016/7/layout/RepeatingBendingProcessNew"/>
    <dgm:cxn modelId="{287D8AD3-1C54-41E3-A372-786B53FA27D7}" type="presOf" srcId="{A9CA4D2A-318F-4D96-B002-63F17BFABD0A}" destId="{EE4C5681-1C5A-485E-9D02-B20C2DA820F7}" srcOrd="1" destOrd="0" presId="urn:microsoft.com/office/officeart/2016/7/layout/RepeatingBendingProcessNew"/>
    <dgm:cxn modelId="{52ACD0D3-1B7E-4686-B8A9-C2F7739232D9}" srcId="{DB1D9FF5-D0F9-46EB-B60F-3E10A9ADCF2C}" destId="{D9D1911D-EBF6-4783-905E-DC59E66470EC}" srcOrd="11" destOrd="0" parTransId="{1CCB973B-78F3-48E0-A4CF-F192D9BB79A2}" sibTransId="{E7BC3649-A1C8-4F70-B222-C31D433857D9}"/>
    <dgm:cxn modelId="{753F8DD4-8D6D-45CA-9AF9-B12BAA97F094}" type="presOf" srcId="{549233CB-9C1F-4766-854E-F7B7F3F38A9D}" destId="{874C8D38-273F-4BD1-B09E-0A4AB3FCFB51}" srcOrd="0" destOrd="0" presId="urn:microsoft.com/office/officeart/2016/7/layout/RepeatingBendingProcessNew"/>
    <dgm:cxn modelId="{B1F3EFD8-59CD-419D-B1D3-5FA2A335F15C}" srcId="{DB1D9FF5-D0F9-46EB-B60F-3E10A9ADCF2C}" destId="{B2140B62-0E5C-4DED-826D-9999F8AB283F}" srcOrd="9" destOrd="0" parTransId="{912FA5F2-80FB-4FB1-906E-8FD157E47EE2}" sibTransId="{218FA4B2-497A-4EB9-B9C9-D207DCED26FF}"/>
    <dgm:cxn modelId="{9FB0F5D8-ABB0-4839-B211-EC482191259D}" type="presOf" srcId="{86080451-3281-4D16-9378-BF11F341CB47}" destId="{0FBE9A9B-223A-4E33-9355-904E1F5949E1}" srcOrd="0" destOrd="0" presId="urn:microsoft.com/office/officeart/2016/7/layout/RepeatingBendingProcessNew"/>
    <dgm:cxn modelId="{38A984F3-8EF2-46CB-9865-BFEB6856C671}" srcId="{DB1D9FF5-D0F9-46EB-B60F-3E10A9ADCF2C}" destId="{84956001-9F40-4797-A454-CC17226CC56F}" srcOrd="3" destOrd="0" parTransId="{9EB0FBA6-8E5B-49CD-8CE2-67F2054D3767}" sibTransId="{549233CB-9C1F-4766-854E-F7B7F3F38A9D}"/>
    <dgm:cxn modelId="{6B07DDF7-F854-4C00-816A-4E9AC0513BA9}" type="presOf" srcId="{E04CBB5A-280A-4502-ADAA-7BCD9974CF2F}" destId="{744C68D3-33AE-4FE8-B02F-2BB13FA842B6}" srcOrd="0" destOrd="0" presId="urn:microsoft.com/office/officeart/2016/7/layout/RepeatingBendingProcessNew"/>
    <dgm:cxn modelId="{06C40CFC-4EE9-451D-9B03-6ED4854C7594}" type="presOf" srcId="{46C66693-67E1-4AB2-B488-5145609A6E13}" destId="{A3DD34D8-BF76-4502-BC28-E38C247389B2}" srcOrd="0" destOrd="0" presId="urn:microsoft.com/office/officeart/2016/7/layout/RepeatingBendingProcessNew"/>
    <dgm:cxn modelId="{DF5187F6-04D5-4C0D-8142-965E40D15F77}" type="presParOf" srcId="{5E8DD7E8-3D91-4871-BF6B-7434A19B2AD3}" destId="{75AD10C1-3DA3-42D9-AAA5-66FB107B65F9}" srcOrd="0" destOrd="0" presId="urn:microsoft.com/office/officeart/2016/7/layout/RepeatingBendingProcessNew"/>
    <dgm:cxn modelId="{490FA597-09C9-45A7-91C7-6560B9475A53}" type="presParOf" srcId="{5E8DD7E8-3D91-4871-BF6B-7434A19B2AD3}" destId="{1F674DEB-1087-41BE-AA89-2E26C7841D5B}" srcOrd="1" destOrd="0" presId="urn:microsoft.com/office/officeart/2016/7/layout/RepeatingBendingProcessNew"/>
    <dgm:cxn modelId="{DD1D9C0F-9672-4833-9CF4-7679C32BA707}" type="presParOf" srcId="{1F674DEB-1087-41BE-AA89-2E26C7841D5B}" destId="{8ED0AF88-8C44-4C5C-B538-C039E35B6066}" srcOrd="0" destOrd="0" presId="urn:microsoft.com/office/officeart/2016/7/layout/RepeatingBendingProcessNew"/>
    <dgm:cxn modelId="{A68EA5E2-2C40-4B84-A1F9-CAC554A7D704}" type="presParOf" srcId="{5E8DD7E8-3D91-4871-BF6B-7434A19B2AD3}" destId="{3F5D7577-34F1-4514-96E4-886A46352271}" srcOrd="2" destOrd="0" presId="urn:microsoft.com/office/officeart/2016/7/layout/RepeatingBendingProcessNew"/>
    <dgm:cxn modelId="{D2125F3F-74A0-43D9-BDF2-45B6C3E2CF29}" type="presParOf" srcId="{5E8DD7E8-3D91-4871-BF6B-7434A19B2AD3}" destId="{D48854A8-BCFD-4DF9-98C2-35F4BC371568}" srcOrd="3" destOrd="0" presId="urn:microsoft.com/office/officeart/2016/7/layout/RepeatingBendingProcessNew"/>
    <dgm:cxn modelId="{06780BA1-A1A3-4A1C-8C28-4332E1A7F5A9}" type="presParOf" srcId="{D48854A8-BCFD-4DF9-98C2-35F4BC371568}" destId="{ACBF96C6-A50C-4AA8-9491-6F246F7AE553}" srcOrd="0" destOrd="0" presId="urn:microsoft.com/office/officeart/2016/7/layout/RepeatingBendingProcessNew"/>
    <dgm:cxn modelId="{850AC56C-BC89-465A-B255-073C7C91C732}" type="presParOf" srcId="{5E8DD7E8-3D91-4871-BF6B-7434A19B2AD3}" destId="{0FBE9A9B-223A-4E33-9355-904E1F5949E1}" srcOrd="4" destOrd="0" presId="urn:microsoft.com/office/officeart/2016/7/layout/RepeatingBendingProcessNew"/>
    <dgm:cxn modelId="{1240FEBB-1C5C-4DA5-8C00-CB3286FFEF79}" type="presParOf" srcId="{5E8DD7E8-3D91-4871-BF6B-7434A19B2AD3}" destId="{9F70C529-377D-4ADB-BD7C-66B266C245FD}" srcOrd="5" destOrd="0" presId="urn:microsoft.com/office/officeart/2016/7/layout/RepeatingBendingProcessNew"/>
    <dgm:cxn modelId="{41D64F3F-3793-450D-AAEF-1E6832195FA7}" type="presParOf" srcId="{9F70C529-377D-4ADB-BD7C-66B266C245FD}" destId="{63B1A641-9FB0-417B-99CA-26E76E4276CC}" srcOrd="0" destOrd="0" presId="urn:microsoft.com/office/officeart/2016/7/layout/RepeatingBendingProcessNew"/>
    <dgm:cxn modelId="{3DBC4023-DF6E-417A-A5DF-BDF7F1D75CC2}" type="presParOf" srcId="{5E8DD7E8-3D91-4871-BF6B-7434A19B2AD3}" destId="{99A2581D-098A-40DC-976C-303EBD065ABE}" srcOrd="6" destOrd="0" presId="urn:microsoft.com/office/officeart/2016/7/layout/RepeatingBendingProcessNew"/>
    <dgm:cxn modelId="{A2DD930C-ACA9-4687-B856-1F345DFC7351}" type="presParOf" srcId="{5E8DD7E8-3D91-4871-BF6B-7434A19B2AD3}" destId="{874C8D38-273F-4BD1-B09E-0A4AB3FCFB51}" srcOrd="7" destOrd="0" presId="urn:microsoft.com/office/officeart/2016/7/layout/RepeatingBendingProcessNew"/>
    <dgm:cxn modelId="{A27683C2-4874-4AAF-9A47-C3544E78EB41}" type="presParOf" srcId="{874C8D38-273F-4BD1-B09E-0A4AB3FCFB51}" destId="{B04ED63F-66A4-4022-9004-D4535CDBAC8A}" srcOrd="0" destOrd="0" presId="urn:microsoft.com/office/officeart/2016/7/layout/RepeatingBendingProcessNew"/>
    <dgm:cxn modelId="{6C6F147D-DC8B-419A-B202-D3FDB290EB36}" type="presParOf" srcId="{5E8DD7E8-3D91-4871-BF6B-7434A19B2AD3}" destId="{6EF4DF85-9805-4C3A-997E-7C63502CE49C}" srcOrd="8" destOrd="0" presId="urn:microsoft.com/office/officeart/2016/7/layout/RepeatingBendingProcessNew"/>
    <dgm:cxn modelId="{6AC1562D-B351-4C6C-A48D-FE40B8859D97}" type="presParOf" srcId="{5E8DD7E8-3D91-4871-BF6B-7434A19B2AD3}" destId="{733C5051-95D8-43C6-B2AB-169C7DD70EEE}" srcOrd="9" destOrd="0" presId="urn:microsoft.com/office/officeart/2016/7/layout/RepeatingBendingProcessNew"/>
    <dgm:cxn modelId="{E2118DF6-FEB7-4D45-A679-1C6B8AE119CB}" type="presParOf" srcId="{733C5051-95D8-43C6-B2AB-169C7DD70EEE}" destId="{EE4C5681-1C5A-485E-9D02-B20C2DA820F7}" srcOrd="0" destOrd="0" presId="urn:microsoft.com/office/officeart/2016/7/layout/RepeatingBendingProcessNew"/>
    <dgm:cxn modelId="{05C847E1-5FCF-4D64-9BE4-2FC2B02C76E2}" type="presParOf" srcId="{5E8DD7E8-3D91-4871-BF6B-7434A19B2AD3}" destId="{A3DD34D8-BF76-4502-BC28-E38C247389B2}" srcOrd="10" destOrd="0" presId="urn:microsoft.com/office/officeart/2016/7/layout/RepeatingBendingProcessNew"/>
    <dgm:cxn modelId="{411EDDBC-63E3-47F1-863D-223090F90847}" type="presParOf" srcId="{5E8DD7E8-3D91-4871-BF6B-7434A19B2AD3}" destId="{7E31B6C0-459A-49F0-8AC6-09792A2340DD}" srcOrd="11" destOrd="0" presId="urn:microsoft.com/office/officeart/2016/7/layout/RepeatingBendingProcessNew"/>
    <dgm:cxn modelId="{79F6AB0F-5E0B-4EE1-9666-BDFD1EE1F21F}" type="presParOf" srcId="{7E31B6C0-459A-49F0-8AC6-09792A2340DD}" destId="{0DECBEA1-93BA-4BD5-ACB4-CA92A3CC0EB7}" srcOrd="0" destOrd="0" presId="urn:microsoft.com/office/officeart/2016/7/layout/RepeatingBendingProcessNew"/>
    <dgm:cxn modelId="{332EEAE2-301F-49F3-9DF7-746C7DDCB49E}" type="presParOf" srcId="{5E8DD7E8-3D91-4871-BF6B-7434A19B2AD3}" destId="{760D6275-93B1-4825-B474-D783AAEAD415}" srcOrd="12" destOrd="0" presId="urn:microsoft.com/office/officeart/2016/7/layout/RepeatingBendingProcessNew"/>
    <dgm:cxn modelId="{594E59DB-F03F-4D60-BEC0-4FDE0CB6367E}" type="presParOf" srcId="{5E8DD7E8-3D91-4871-BF6B-7434A19B2AD3}" destId="{65836244-F521-495D-90F5-8858BBBA25BD}" srcOrd="13" destOrd="0" presId="urn:microsoft.com/office/officeart/2016/7/layout/RepeatingBendingProcessNew"/>
    <dgm:cxn modelId="{10F7E36D-5A57-4C44-ABC1-C27C9A979AA9}" type="presParOf" srcId="{65836244-F521-495D-90F5-8858BBBA25BD}" destId="{283F2729-AB2C-47FE-AC5C-47994896EE8A}" srcOrd="0" destOrd="0" presId="urn:microsoft.com/office/officeart/2016/7/layout/RepeatingBendingProcessNew"/>
    <dgm:cxn modelId="{DF3C9A1B-2BB5-4B16-80B0-D993021EB96C}" type="presParOf" srcId="{5E8DD7E8-3D91-4871-BF6B-7434A19B2AD3}" destId="{744C68D3-33AE-4FE8-B02F-2BB13FA842B6}" srcOrd="14" destOrd="0" presId="urn:microsoft.com/office/officeart/2016/7/layout/RepeatingBendingProcessNew"/>
    <dgm:cxn modelId="{A077B73F-D84C-49F3-8188-1CF2809CC355}" type="presParOf" srcId="{5E8DD7E8-3D91-4871-BF6B-7434A19B2AD3}" destId="{9811BC4C-BBCF-43A4-B86F-D7810446E6CE}" srcOrd="15" destOrd="0" presId="urn:microsoft.com/office/officeart/2016/7/layout/RepeatingBendingProcessNew"/>
    <dgm:cxn modelId="{9952C648-A86E-4BAB-84BD-6D2C9D6E38FF}" type="presParOf" srcId="{9811BC4C-BBCF-43A4-B86F-D7810446E6CE}" destId="{7A59E38C-E7B9-4933-8A31-F8DC20D9F491}" srcOrd="0" destOrd="0" presId="urn:microsoft.com/office/officeart/2016/7/layout/RepeatingBendingProcessNew"/>
    <dgm:cxn modelId="{7A370983-1945-4F5D-9932-0A22F6A955DA}" type="presParOf" srcId="{5E8DD7E8-3D91-4871-BF6B-7434A19B2AD3}" destId="{5C9FC4C7-10C6-4C54-83E9-5E92BC716C96}" srcOrd="16" destOrd="0" presId="urn:microsoft.com/office/officeart/2016/7/layout/RepeatingBendingProcessNew"/>
    <dgm:cxn modelId="{4840A1F9-741E-45D7-9B84-202B7C9ED4DB}" type="presParOf" srcId="{5E8DD7E8-3D91-4871-BF6B-7434A19B2AD3}" destId="{8A013FFF-2542-4BD3-9A24-64D268670726}" srcOrd="17" destOrd="0" presId="urn:microsoft.com/office/officeart/2016/7/layout/RepeatingBendingProcessNew"/>
    <dgm:cxn modelId="{4F236D58-C035-49FB-AD8E-125B4EFF8A83}" type="presParOf" srcId="{8A013FFF-2542-4BD3-9A24-64D268670726}" destId="{6F91B19E-86F2-4AE5-9291-F9A88791D4E0}" srcOrd="0" destOrd="0" presId="urn:microsoft.com/office/officeart/2016/7/layout/RepeatingBendingProcessNew"/>
    <dgm:cxn modelId="{C76B0D0D-683B-463F-B837-3F3A9845AAD3}" type="presParOf" srcId="{5E8DD7E8-3D91-4871-BF6B-7434A19B2AD3}" destId="{53F365DF-30D7-4C95-8606-9A2D921ECC08}" srcOrd="18" destOrd="0" presId="urn:microsoft.com/office/officeart/2016/7/layout/RepeatingBendingProcessNew"/>
    <dgm:cxn modelId="{04403A80-2DF1-4199-895A-30696A12BDEA}" type="presParOf" srcId="{5E8DD7E8-3D91-4871-BF6B-7434A19B2AD3}" destId="{5DB5D1CE-3853-4BC1-A735-E6542E6A437F}" srcOrd="19" destOrd="0" presId="urn:microsoft.com/office/officeart/2016/7/layout/RepeatingBendingProcessNew"/>
    <dgm:cxn modelId="{BE72C72C-4384-422C-BD9F-F94B23638F18}" type="presParOf" srcId="{5DB5D1CE-3853-4BC1-A735-E6542E6A437F}" destId="{AD9235E0-F04D-4D2C-9EF7-F05FD06C5BA9}" srcOrd="0" destOrd="0" presId="urn:microsoft.com/office/officeart/2016/7/layout/RepeatingBendingProcessNew"/>
    <dgm:cxn modelId="{9AC84C43-F36B-46D9-A412-C559457D5703}" type="presParOf" srcId="{5E8DD7E8-3D91-4871-BF6B-7434A19B2AD3}" destId="{61BC054D-F3AB-4FAE-86BF-FEFEFD3362BC}" srcOrd="20" destOrd="0" presId="urn:microsoft.com/office/officeart/2016/7/layout/RepeatingBendingProcessNew"/>
    <dgm:cxn modelId="{87BF340C-5AF6-4832-9F3C-A518C00A671F}" type="presParOf" srcId="{5E8DD7E8-3D91-4871-BF6B-7434A19B2AD3}" destId="{140ED901-7994-48D4-BEA1-9789FF48630D}" srcOrd="21" destOrd="0" presId="urn:microsoft.com/office/officeart/2016/7/layout/RepeatingBendingProcessNew"/>
    <dgm:cxn modelId="{A3BE7BBD-8F5B-471C-A4CF-CB941698C725}" type="presParOf" srcId="{140ED901-7994-48D4-BEA1-9789FF48630D}" destId="{05349EB3-EEEB-47C4-B56D-4ACF2F23047B}" srcOrd="0" destOrd="0" presId="urn:microsoft.com/office/officeart/2016/7/layout/RepeatingBendingProcessNew"/>
    <dgm:cxn modelId="{ADC2399B-07A8-4D2B-9392-CECAA30C93EA}" type="presParOf" srcId="{5E8DD7E8-3D91-4871-BF6B-7434A19B2AD3}" destId="{8773D180-AC9B-47C2-BDB5-A6D5BF08B352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4C53D-AD57-4FE6-96A4-878E1B97CD36}">
      <dsp:nvSpPr>
        <dsp:cNvPr id="0" name=""/>
        <dsp:cNvSpPr/>
      </dsp:nvSpPr>
      <dsp:spPr>
        <a:xfrm>
          <a:off x="0" y="0"/>
          <a:ext cx="5809614" cy="56782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940" tIns="330200" rIns="4529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Project Goals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Analyze FEMA disaster declaration data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Identify disaster-prone states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Study disaster trends over time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Compare IA, PA, and HM assistance programs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Perform scenario analysis using a What-If parameter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Build an optimized Power BI dashboard</a:t>
          </a:r>
          <a:endParaRPr lang="en-US" sz="2000" kern="1200"/>
        </a:p>
      </dsp:txBody>
      <dsp:txXfrm>
        <a:off x="0" y="2157723"/>
        <a:ext cx="5809614" cy="3406931"/>
      </dsp:txXfrm>
    </dsp:sp>
    <dsp:sp modelId="{A4DC6047-8DF9-4694-9D90-5BB7CC850A69}">
      <dsp:nvSpPr>
        <dsp:cNvPr id="0" name=""/>
        <dsp:cNvSpPr/>
      </dsp:nvSpPr>
      <dsp:spPr>
        <a:xfrm>
          <a:off x="2053074" y="567821"/>
          <a:ext cx="1703465" cy="17034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809" tIns="12700" rIns="13280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302541" y="817288"/>
        <a:ext cx="1204531" cy="1204531"/>
      </dsp:txXfrm>
    </dsp:sp>
    <dsp:sp modelId="{F21583BD-D550-41F9-A95D-65381BE51C20}">
      <dsp:nvSpPr>
        <dsp:cNvPr id="0" name=""/>
        <dsp:cNvSpPr/>
      </dsp:nvSpPr>
      <dsp:spPr>
        <a:xfrm>
          <a:off x="0" y="5678146"/>
          <a:ext cx="5809614" cy="7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78238-A39F-4AF9-9BEE-AAA03388B48A}">
      <dsp:nvSpPr>
        <dsp:cNvPr id="0" name=""/>
        <dsp:cNvSpPr/>
      </dsp:nvSpPr>
      <dsp:spPr>
        <a:xfrm>
          <a:off x="0" y="58047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tx1"/>
              </a:solidFill>
            </a:rPr>
            <a:t>Important Columns</a:t>
          </a:r>
          <a:endParaRPr lang="en-US" sz="1900" b="1" kern="1200" dirty="0">
            <a:solidFill>
              <a:schemeClr val="tx1"/>
            </a:solidFill>
          </a:endParaRPr>
        </a:p>
      </dsp:txBody>
      <dsp:txXfrm>
        <a:off x="22246" y="80293"/>
        <a:ext cx="6051508" cy="411223"/>
      </dsp:txXfrm>
    </dsp:sp>
    <dsp:sp modelId="{B1B01A62-FAE7-4BB9-B561-B08177FB6E9D}">
      <dsp:nvSpPr>
        <dsp:cNvPr id="0" name=""/>
        <dsp:cNvSpPr/>
      </dsp:nvSpPr>
      <dsp:spPr>
        <a:xfrm>
          <a:off x="0" y="568482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Disaster Number </a:t>
          </a:r>
          <a:endParaRPr lang="en-US" sz="1900" kern="1200"/>
        </a:p>
      </dsp:txBody>
      <dsp:txXfrm>
        <a:off x="22246" y="590728"/>
        <a:ext cx="6051508" cy="411223"/>
      </dsp:txXfrm>
    </dsp:sp>
    <dsp:sp modelId="{05B79B90-8CDA-4ECB-A48F-26DE253EC4EA}">
      <dsp:nvSpPr>
        <dsp:cNvPr id="0" name=""/>
        <dsp:cNvSpPr/>
      </dsp:nvSpPr>
      <dsp:spPr>
        <a:xfrm>
          <a:off x="0" y="1078917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State </a:t>
          </a:r>
          <a:endParaRPr lang="en-US" sz="1900" kern="1200"/>
        </a:p>
      </dsp:txBody>
      <dsp:txXfrm>
        <a:off x="22246" y="1101163"/>
        <a:ext cx="6051508" cy="411223"/>
      </dsp:txXfrm>
    </dsp:sp>
    <dsp:sp modelId="{C80D7DB9-26D1-4373-A55D-C8CDD75EB106}">
      <dsp:nvSpPr>
        <dsp:cNvPr id="0" name=""/>
        <dsp:cNvSpPr/>
      </dsp:nvSpPr>
      <dsp:spPr>
        <a:xfrm>
          <a:off x="0" y="1589352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Incident Type </a:t>
          </a:r>
          <a:endParaRPr lang="en-US" sz="1900" kern="1200"/>
        </a:p>
      </dsp:txBody>
      <dsp:txXfrm>
        <a:off x="22246" y="1611598"/>
        <a:ext cx="6051508" cy="411223"/>
      </dsp:txXfrm>
    </dsp:sp>
    <dsp:sp modelId="{36FC4C33-65F3-47B5-93E1-571043BE09B9}">
      <dsp:nvSpPr>
        <dsp:cNvPr id="0" name=""/>
        <dsp:cNvSpPr/>
      </dsp:nvSpPr>
      <dsp:spPr>
        <a:xfrm>
          <a:off x="0" y="2099787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Declaration Date </a:t>
          </a:r>
          <a:endParaRPr lang="en-US" sz="1900" kern="1200"/>
        </a:p>
      </dsp:txBody>
      <dsp:txXfrm>
        <a:off x="22246" y="2122033"/>
        <a:ext cx="6051508" cy="411223"/>
      </dsp:txXfrm>
    </dsp:sp>
    <dsp:sp modelId="{7C4741EC-0004-46CC-82B9-01A451424FC3}">
      <dsp:nvSpPr>
        <dsp:cNvPr id="0" name=""/>
        <dsp:cNvSpPr/>
      </dsp:nvSpPr>
      <dsp:spPr>
        <a:xfrm>
          <a:off x="0" y="2610222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Incident Begin Date </a:t>
          </a:r>
          <a:endParaRPr lang="en-US" sz="1900" kern="1200"/>
        </a:p>
      </dsp:txBody>
      <dsp:txXfrm>
        <a:off x="22246" y="2632468"/>
        <a:ext cx="6051508" cy="411223"/>
      </dsp:txXfrm>
    </dsp:sp>
    <dsp:sp modelId="{C216DBEE-129C-4685-AE01-4A4A72DCABD6}">
      <dsp:nvSpPr>
        <dsp:cNvPr id="0" name=""/>
        <dsp:cNvSpPr/>
      </dsp:nvSpPr>
      <dsp:spPr>
        <a:xfrm>
          <a:off x="0" y="3120657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Incident End Date </a:t>
          </a:r>
          <a:endParaRPr lang="en-US" sz="1900" kern="1200"/>
        </a:p>
      </dsp:txBody>
      <dsp:txXfrm>
        <a:off x="22246" y="3142903"/>
        <a:ext cx="6051508" cy="411223"/>
      </dsp:txXfrm>
    </dsp:sp>
    <dsp:sp modelId="{8F7B3D0F-EA2A-462E-A2F3-F15EC7E568FA}">
      <dsp:nvSpPr>
        <dsp:cNvPr id="0" name=""/>
        <dsp:cNvSpPr/>
      </dsp:nvSpPr>
      <dsp:spPr>
        <a:xfrm>
          <a:off x="0" y="3631092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IA Program Declared </a:t>
          </a:r>
          <a:endParaRPr lang="en-US" sz="1900" kern="1200"/>
        </a:p>
      </dsp:txBody>
      <dsp:txXfrm>
        <a:off x="22246" y="3653338"/>
        <a:ext cx="6051508" cy="411223"/>
      </dsp:txXfrm>
    </dsp:sp>
    <dsp:sp modelId="{18DDB3AA-983F-4ED9-90AE-2CE46CFDD9FD}">
      <dsp:nvSpPr>
        <dsp:cNvPr id="0" name=""/>
        <dsp:cNvSpPr/>
      </dsp:nvSpPr>
      <dsp:spPr>
        <a:xfrm>
          <a:off x="0" y="4141526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PA Program Declared </a:t>
          </a:r>
          <a:endParaRPr lang="en-US" sz="1900" kern="1200"/>
        </a:p>
      </dsp:txBody>
      <dsp:txXfrm>
        <a:off x="22246" y="4163772"/>
        <a:ext cx="6051508" cy="411223"/>
      </dsp:txXfrm>
    </dsp:sp>
    <dsp:sp modelId="{317C0664-8E40-470D-9DE2-C39905894CE0}">
      <dsp:nvSpPr>
        <dsp:cNvPr id="0" name=""/>
        <dsp:cNvSpPr/>
      </dsp:nvSpPr>
      <dsp:spPr>
        <a:xfrm>
          <a:off x="0" y="4651961"/>
          <a:ext cx="6096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HM Program Declared</a:t>
          </a:r>
          <a:endParaRPr lang="en-US" sz="1900" kern="1200"/>
        </a:p>
      </dsp:txBody>
      <dsp:txXfrm>
        <a:off x="22246" y="4674207"/>
        <a:ext cx="6051508" cy="411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74DEB-1087-41BE-AA89-2E26C7841D5B}">
      <dsp:nvSpPr>
        <dsp:cNvPr id="0" name=""/>
        <dsp:cNvSpPr/>
      </dsp:nvSpPr>
      <dsp:spPr>
        <a:xfrm>
          <a:off x="1744855" y="300567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4462" y="344971"/>
        <a:ext cx="13148" cy="2632"/>
      </dsp:txXfrm>
    </dsp:sp>
    <dsp:sp modelId="{75AD10C1-3DA3-42D9-AAA5-66FB107B65F9}">
      <dsp:nvSpPr>
        <dsp:cNvPr id="0" name=""/>
        <dsp:cNvSpPr/>
      </dsp:nvSpPr>
      <dsp:spPr>
        <a:xfrm>
          <a:off x="603340" y="3293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Data Cleaning &amp; Transformation Steps</a:t>
          </a:r>
          <a:endParaRPr lang="en-US" sz="1200" kern="1200"/>
        </a:p>
      </dsp:txBody>
      <dsp:txXfrm>
        <a:off x="603340" y="3293"/>
        <a:ext cx="1143314" cy="685988"/>
      </dsp:txXfrm>
    </dsp:sp>
    <dsp:sp modelId="{D48854A8-BCFD-4DF9-98C2-35F4BC371568}">
      <dsp:nvSpPr>
        <dsp:cNvPr id="0" name=""/>
        <dsp:cNvSpPr/>
      </dsp:nvSpPr>
      <dsp:spPr>
        <a:xfrm>
          <a:off x="3151132" y="300567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60739" y="344971"/>
        <a:ext cx="13148" cy="2632"/>
      </dsp:txXfrm>
    </dsp:sp>
    <dsp:sp modelId="{3F5D7577-34F1-4514-96E4-886A46352271}">
      <dsp:nvSpPr>
        <dsp:cNvPr id="0" name=""/>
        <dsp:cNvSpPr/>
      </dsp:nvSpPr>
      <dsp:spPr>
        <a:xfrm>
          <a:off x="2009617" y="3293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Imported FEMA Disaster Declarations CSV dataset</a:t>
          </a:r>
          <a:endParaRPr lang="en-US" sz="1200" kern="1200"/>
        </a:p>
      </dsp:txBody>
      <dsp:txXfrm>
        <a:off x="2009617" y="3293"/>
        <a:ext cx="1143314" cy="685988"/>
      </dsp:txXfrm>
    </dsp:sp>
    <dsp:sp modelId="{9F70C529-377D-4ADB-BD7C-66B266C245FD}">
      <dsp:nvSpPr>
        <dsp:cNvPr id="0" name=""/>
        <dsp:cNvSpPr/>
      </dsp:nvSpPr>
      <dsp:spPr>
        <a:xfrm>
          <a:off x="1196023" y="687482"/>
          <a:ext cx="2791528" cy="274406"/>
        </a:xfrm>
        <a:custGeom>
          <a:avLst/>
          <a:gdLst/>
          <a:ahLst/>
          <a:cxnLst/>
          <a:rect l="0" t="0" r="0" b="0"/>
          <a:pathLst>
            <a:path>
              <a:moveTo>
                <a:pt x="2791528" y="0"/>
              </a:moveTo>
              <a:lnTo>
                <a:pt x="2791528" y="154303"/>
              </a:lnTo>
              <a:lnTo>
                <a:pt x="0" y="154303"/>
              </a:lnTo>
              <a:lnTo>
                <a:pt x="0" y="27440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1584" y="823369"/>
        <a:ext cx="140407" cy="2632"/>
      </dsp:txXfrm>
    </dsp:sp>
    <dsp:sp modelId="{0FBE9A9B-223A-4E33-9355-904E1F5949E1}">
      <dsp:nvSpPr>
        <dsp:cNvPr id="0" name=""/>
        <dsp:cNvSpPr/>
      </dsp:nvSpPr>
      <dsp:spPr>
        <a:xfrm>
          <a:off x="3415894" y="3293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Promoted the first row as column headers</a:t>
          </a:r>
          <a:endParaRPr lang="en-US" sz="1200" kern="1200"/>
        </a:p>
      </dsp:txBody>
      <dsp:txXfrm>
        <a:off x="3415894" y="3293"/>
        <a:ext cx="1143314" cy="685988"/>
      </dsp:txXfrm>
    </dsp:sp>
    <dsp:sp modelId="{874C8D38-273F-4BD1-B09E-0A4AB3FCFB51}">
      <dsp:nvSpPr>
        <dsp:cNvPr id="0" name=""/>
        <dsp:cNvSpPr/>
      </dsp:nvSpPr>
      <dsp:spPr>
        <a:xfrm>
          <a:off x="1765880" y="1249519"/>
          <a:ext cx="2113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87764"/>
              </a:moveTo>
              <a:lnTo>
                <a:pt x="122768" y="87764"/>
              </a:lnTo>
              <a:lnTo>
                <a:pt x="122768" y="45720"/>
              </a:lnTo>
              <a:lnTo>
                <a:pt x="21133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5410" y="1293923"/>
        <a:ext cx="12278" cy="2632"/>
      </dsp:txXfrm>
    </dsp:sp>
    <dsp:sp modelId="{99A2581D-098A-40DC-976C-303EBD065ABE}">
      <dsp:nvSpPr>
        <dsp:cNvPr id="0" name=""/>
        <dsp:cNvSpPr/>
      </dsp:nvSpPr>
      <dsp:spPr>
        <a:xfrm>
          <a:off x="624365" y="994289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Removed unnecessary columns (id, hash, last_ia_filing_date)</a:t>
          </a:r>
          <a:endParaRPr lang="en-US" sz="1200" kern="1200"/>
        </a:p>
      </dsp:txBody>
      <dsp:txXfrm>
        <a:off x="624365" y="994289"/>
        <a:ext cx="1143314" cy="685988"/>
      </dsp:txXfrm>
    </dsp:sp>
    <dsp:sp modelId="{733C5051-95D8-43C6-B2AB-169C7DD70EEE}">
      <dsp:nvSpPr>
        <dsp:cNvPr id="0" name=""/>
        <dsp:cNvSpPr/>
      </dsp:nvSpPr>
      <dsp:spPr>
        <a:xfrm>
          <a:off x="3151132" y="1249519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60739" y="1293923"/>
        <a:ext cx="13148" cy="2632"/>
      </dsp:txXfrm>
    </dsp:sp>
    <dsp:sp modelId="{6EF4DF85-9805-4C3A-997E-7C63502CE49C}">
      <dsp:nvSpPr>
        <dsp:cNvPr id="0" name=""/>
        <dsp:cNvSpPr/>
      </dsp:nvSpPr>
      <dsp:spPr>
        <a:xfrm>
          <a:off x="2009617" y="952244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Trimmed leading and trailing spaces from text fields</a:t>
          </a:r>
          <a:endParaRPr lang="en-US" sz="1200" kern="1200"/>
        </a:p>
      </dsp:txBody>
      <dsp:txXfrm>
        <a:off x="2009617" y="952244"/>
        <a:ext cx="1143314" cy="685988"/>
      </dsp:txXfrm>
    </dsp:sp>
    <dsp:sp modelId="{7E31B6C0-459A-49F0-8AC6-09792A2340DD}">
      <dsp:nvSpPr>
        <dsp:cNvPr id="0" name=""/>
        <dsp:cNvSpPr/>
      </dsp:nvSpPr>
      <dsp:spPr>
        <a:xfrm>
          <a:off x="1174997" y="1636433"/>
          <a:ext cx="2812554" cy="232362"/>
        </a:xfrm>
        <a:custGeom>
          <a:avLst/>
          <a:gdLst/>
          <a:ahLst/>
          <a:cxnLst/>
          <a:rect l="0" t="0" r="0" b="0"/>
          <a:pathLst>
            <a:path>
              <a:moveTo>
                <a:pt x="2812554" y="0"/>
              </a:moveTo>
              <a:lnTo>
                <a:pt x="2812554" y="133281"/>
              </a:lnTo>
              <a:lnTo>
                <a:pt x="0" y="133281"/>
              </a:lnTo>
              <a:lnTo>
                <a:pt x="0" y="232362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0654" y="1751298"/>
        <a:ext cx="141241" cy="2632"/>
      </dsp:txXfrm>
    </dsp:sp>
    <dsp:sp modelId="{A3DD34D8-BF76-4502-BC28-E38C247389B2}">
      <dsp:nvSpPr>
        <dsp:cNvPr id="0" name=""/>
        <dsp:cNvSpPr/>
      </dsp:nvSpPr>
      <dsp:spPr>
        <a:xfrm>
          <a:off x="3415894" y="952244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Cleaned non-printable characters from text columns</a:t>
          </a:r>
          <a:endParaRPr lang="en-US" sz="1200" kern="1200"/>
        </a:p>
      </dsp:txBody>
      <dsp:txXfrm>
        <a:off x="3415894" y="952244"/>
        <a:ext cx="1143314" cy="685988"/>
      </dsp:txXfrm>
    </dsp:sp>
    <dsp:sp modelId="{65836244-F521-495D-90F5-8858BBBA25BD}">
      <dsp:nvSpPr>
        <dsp:cNvPr id="0" name=""/>
        <dsp:cNvSpPr/>
      </dsp:nvSpPr>
      <dsp:spPr>
        <a:xfrm>
          <a:off x="1744855" y="2198470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4462" y="2242874"/>
        <a:ext cx="13148" cy="2632"/>
      </dsp:txXfrm>
    </dsp:sp>
    <dsp:sp modelId="{760D6275-93B1-4825-B474-D783AAEAD415}">
      <dsp:nvSpPr>
        <dsp:cNvPr id="0" name=""/>
        <dsp:cNvSpPr/>
      </dsp:nvSpPr>
      <dsp:spPr>
        <a:xfrm>
          <a:off x="603340" y="1901196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✅ Replaced invalid values (NA) with </a:t>
          </a:r>
          <a:r>
            <a:rPr lang="en-IN" sz="1200" b="1" kern="1200" dirty="0"/>
            <a:t>Null</a:t>
          </a:r>
          <a:endParaRPr lang="en-US" sz="1200" kern="1200" dirty="0"/>
        </a:p>
      </dsp:txBody>
      <dsp:txXfrm>
        <a:off x="603340" y="1901196"/>
        <a:ext cx="1143314" cy="685988"/>
      </dsp:txXfrm>
    </dsp:sp>
    <dsp:sp modelId="{9811BC4C-BBCF-43A4-B86F-D7810446E6CE}">
      <dsp:nvSpPr>
        <dsp:cNvPr id="0" name=""/>
        <dsp:cNvSpPr/>
      </dsp:nvSpPr>
      <dsp:spPr>
        <a:xfrm>
          <a:off x="3151132" y="2198470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60739" y="2242874"/>
        <a:ext cx="13148" cy="2632"/>
      </dsp:txXfrm>
    </dsp:sp>
    <dsp:sp modelId="{744C68D3-33AE-4FE8-B02F-2BB13FA842B6}">
      <dsp:nvSpPr>
        <dsp:cNvPr id="0" name=""/>
        <dsp:cNvSpPr/>
      </dsp:nvSpPr>
      <dsp:spPr>
        <a:xfrm>
          <a:off x="2009617" y="1901196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Converted columns to appropriate data types (Date, Number, Text)</a:t>
          </a:r>
          <a:endParaRPr lang="en-US" sz="1200" kern="1200"/>
        </a:p>
      </dsp:txBody>
      <dsp:txXfrm>
        <a:off x="2009617" y="1901196"/>
        <a:ext cx="1143314" cy="685988"/>
      </dsp:txXfrm>
    </dsp:sp>
    <dsp:sp modelId="{8A013FFF-2542-4BD3-9A24-64D268670726}">
      <dsp:nvSpPr>
        <dsp:cNvPr id="0" name=""/>
        <dsp:cNvSpPr/>
      </dsp:nvSpPr>
      <dsp:spPr>
        <a:xfrm>
          <a:off x="1174997" y="2585385"/>
          <a:ext cx="2812554" cy="232362"/>
        </a:xfrm>
        <a:custGeom>
          <a:avLst/>
          <a:gdLst/>
          <a:ahLst/>
          <a:cxnLst/>
          <a:rect l="0" t="0" r="0" b="0"/>
          <a:pathLst>
            <a:path>
              <a:moveTo>
                <a:pt x="2812554" y="0"/>
              </a:moveTo>
              <a:lnTo>
                <a:pt x="2812554" y="133281"/>
              </a:lnTo>
              <a:lnTo>
                <a:pt x="0" y="133281"/>
              </a:lnTo>
              <a:lnTo>
                <a:pt x="0" y="232362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0654" y="2700250"/>
        <a:ext cx="141241" cy="2632"/>
      </dsp:txXfrm>
    </dsp:sp>
    <dsp:sp modelId="{5C9FC4C7-10C6-4C54-83E9-5E92BC716C96}">
      <dsp:nvSpPr>
        <dsp:cNvPr id="0" name=""/>
        <dsp:cNvSpPr/>
      </dsp:nvSpPr>
      <dsp:spPr>
        <a:xfrm>
          <a:off x="3415894" y="1901196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Created calculated columns:</a:t>
          </a:r>
          <a:endParaRPr lang="en-US" sz="1200" kern="1200"/>
        </a:p>
      </dsp:txBody>
      <dsp:txXfrm>
        <a:off x="3415894" y="1901196"/>
        <a:ext cx="1143314" cy="685988"/>
      </dsp:txXfrm>
    </dsp:sp>
    <dsp:sp modelId="{5DB5D1CE-3853-4BC1-A735-E6542E6A437F}">
      <dsp:nvSpPr>
        <dsp:cNvPr id="0" name=""/>
        <dsp:cNvSpPr/>
      </dsp:nvSpPr>
      <dsp:spPr>
        <a:xfrm>
          <a:off x="1744855" y="3147422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54462" y="3191825"/>
        <a:ext cx="13148" cy="2632"/>
      </dsp:txXfrm>
    </dsp:sp>
    <dsp:sp modelId="{53F365DF-30D7-4C95-8606-9A2D921ECC08}">
      <dsp:nvSpPr>
        <dsp:cNvPr id="0" name=""/>
        <dsp:cNvSpPr/>
      </dsp:nvSpPr>
      <dsp:spPr>
        <a:xfrm>
          <a:off x="603340" y="2850147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Disaster Duration </a:t>
          </a:r>
          <a:endParaRPr lang="en-US" sz="1200" kern="1200"/>
        </a:p>
      </dsp:txBody>
      <dsp:txXfrm>
        <a:off x="603340" y="2850147"/>
        <a:ext cx="1143314" cy="685988"/>
      </dsp:txXfrm>
    </dsp:sp>
    <dsp:sp modelId="{140ED901-7994-48D4-BEA1-9789FF48630D}">
      <dsp:nvSpPr>
        <dsp:cNvPr id="0" name=""/>
        <dsp:cNvSpPr/>
      </dsp:nvSpPr>
      <dsp:spPr>
        <a:xfrm>
          <a:off x="3151132" y="3147422"/>
          <a:ext cx="232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236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60739" y="3191825"/>
        <a:ext cx="13148" cy="2632"/>
      </dsp:txXfrm>
    </dsp:sp>
    <dsp:sp modelId="{61BC054D-F3AB-4FAE-86BF-FEFEFD3362BC}">
      <dsp:nvSpPr>
        <dsp:cNvPr id="0" name=""/>
        <dsp:cNvSpPr/>
      </dsp:nvSpPr>
      <dsp:spPr>
        <a:xfrm>
          <a:off x="2009617" y="2850147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Time To Declaration </a:t>
          </a:r>
          <a:endParaRPr lang="en-US" sz="1200" kern="1200"/>
        </a:p>
      </dsp:txBody>
      <dsp:txXfrm>
        <a:off x="2009617" y="2850147"/>
        <a:ext cx="1143314" cy="685988"/>
      </dsp:txXfrm>
    </dsp:sp>
    <dsp:sp modelId="{8773D180-AC9B-47C2-BDB5-A6D5BF08B352}">
      <dsp:nvSpPr>
        <dsp:cNvPr id="0" name=""/>
        <dsp:cNvSpPr/>
      </dsp:nvSpPr>
      <dsp:spPr>
        <a:xfrm>
          <a:off x="3415894" y="2850147"/>
          <a:ext cx="1143314" cy="685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23" tIns="58806" rIns="56023" bIns="5880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✅ Loaded the cleaned dataset into the Power BI model</a:t>
          </a:r>
          <a:endParaRPr lang="en-US" sz="1200" kern="1200"/>
        </a:p>
      </dsp:txBody>
      <dsp:txXfrm>
        <a:off x="3415894" y="2850147"/>
        <a:ext cx="1143314" cy="685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465EDC42-8292-4B76-84F4-650FAA9821AB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8D8F41C9-478F-4991-A422-183FCD7DC038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A51F39DE-E1F0-4156-9C86-8879746A3AF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022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4" y="350196"/>
            <a:ext cx="464569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sz="3700"/>
              <a:t>US Disaster Declarations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03" y="2743200"/>
            <a:ext cx="464569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Microsoft Power BI Project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Presented By: Yash Nandekar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Dataset: FEMA US Disaster Declarations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0BA09F2E-AAD1-A2FE-A347-F0B059778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22" r="17335"/>
          <a:stretch>
            <a:fillRect/>
          </a:stretch>
        </p:blipFill>
        <p:spPr>
          <a:xfrm>
            <a:off x="6094412" y="1"/>
            <a:ext cx="6101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215665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673771"/>
            <a:ext cx="3723860" cy="14191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890DB85B-DE9D-5700-2BF8-ACF69FD6D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1085530"/>
              </p:ext>
            </p:extLst>
          </p:nvPr>
        </p:nvGraphicFramePr>
        <p:xfrm>
          <a:off x="5541228" y="541606"/>
          <a:ext cx="5809615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5707FE1-B87B-0AF0-4534-43272CE0BA6E}"/>
              </a:ext>
            </a:extLst>
          </p:cNvPr>
          <p:cNvGrpSpPr/>
          <p:nvPr/>
        </p:nvGrpSpPr>
        <p:grpSpPr>
          <a:xfrm>
            <a:off x="450642" y="2450786"/>
            <a:ext cx="4639945" cy="3769039"/>
            <a:chOff x="0" y="0"/>
            <a:chExt cx="5809614" cy="57985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62B6D1-6C5D-064E-BD78-8D60E570F9BA}"/>
                </a:ext>
              </a:extLst>
            </p:cNvPr>
            <p:cNvSpPr/>
            <p:nvPr/>
          </p:nvSpPr>
          <p:spPr>
            <a:xfrm>
              <a:off x="0" y="0"/>
              <a:ext cx="5809614" cy="5678219"/>
            </a:xfrm>
            <a:prstGeom prst="rect">
              <a:avLst/>
            </a:prstGeom>
          </p:spPr>
          <p:style>
            <a:ln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E3C619-0BCB-2646-2E45-A22206C549E7}"/>
                </a:ext>
              </a:extLst>
            </p:cNvPr>
            <p:cNvSpPr txBox="1"/>
            <p:nvPr/>
          </p:nvSpPr>
          <p:spPr>
            <a:xfrm>
              <a:off x="0" y="120330"/>
              <a:ext cx="5809614" cy="56782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2940" tIns="330200" rIns="452940" bIns="330200" numCol="1" spcCol="1270" anchor="t" anchorCtr="0">
              <a:noAutofit/>
            </a:bodyPr>
            <a:lstStyle/>
            <a:p>
              <a:r>
                <a:rPr lang="en-IN" sz="2000" dirty="0"/>
                <a:t>The objective of this project is to design and develop an interactive Power BI dashboard that </a:t>
              </a:r>
              <a:r>
                <a:rPr lang="en-IN" sz="2000" dirty="0" err="1"/>
                <a:t>analyzes</a:t>
              </a:r>
              <a:r>
                <a:rPr lang="en-IN" sz="2000" dirty="0"/>
                <a:t> FEMA disaster declaration data across the United States. The dashboard enables users to identify disaster trends, </a:t>
              </a:r>
              <a:r>
                <a:rPr lang="en-IN" sz="2000" dirty="0" err="1"/>
                <a:t>analyze</a:t>
              </a:r>
              <a:r>
                <a:rPr lang="en-IN" sz="2000" dirty="0"/>
                <a:t> affected regions, compare FEMA assistance programs, and perform scenario analysis using a What-If parameter.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Dataset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D77677-2BA4-2E0F-68C7-C08D208B7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44846"/>
              </p:ext>
            </p:extLst>
          </p:nvPr>
        </p:nvGraphicFramePr>
        <p:xfrm>
          <a:off x="609600" y="1966396"/>
          <a:ext cx="5095875" cy="43734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5917">
                  <a:extLst>
                    <a:ext uri="{9D8B030D-6E8A-4147-A177-3AD203B41FA5}">
                      <a16:colId xmlns:a16="http://schemas.microsoft.com/office/drawing/2014/main" val="2888369865"/>
                    </a:ext>
                  </a:extLst>
                </a:gridCol>
                <a:gridCol w="3899958">
                  <a:extLst>
                    <a:ext uri="{9D8B030D-6E8A-4147-A177-3AD203B41FA5}">
                      <a16:colId xmlns:a16="http://schemas.microsoft.com/office/drawing/2014/main" val="1163941350"/>
                    </a:ext>
                  </a:extLst>
                </a:gridCol>
              </a:tblGrid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440569"/>
                  </a:ext>
                </a:extLst>
              </a:tr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FEMA US Disaster Declarations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32077"/>
                  </a:ext>
                </a:extLst>
              </a:tr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FEMA Open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06331"/>
                  </a:ext>
                </a:extLst>
              </a:tr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835582"/>
                  </a:ext>
                </a:extLst>
              </a:tr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64,091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692251"/>
                  </a:ext>
                </a:extLst>
              </a:tr>
              <a:tr h="728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Microsoft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429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9D91600-3D75-0A9A-C0D4-A8AB8E6E0619}"/>
              </a:ext>
            </a:extLst>
          </p:cNvPr>
          <p:cNvSpPr txBox="1"/>
          <p:nvPr/>
        </p:nvSpPr>
        <p:spPr>
          <a:xfrm>
            <a:off x="790575" y="1490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 Information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B6B82D03-62B3-A651-4633-C9C9501E6C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420484"/>
              </p:ext>
            </p:extLst>
          </p:nvPr>
        </p:nvGraphicFramePr>
        <p:xfrm>
          <a:off x="5838825" y="1417638"/>
          <a:ext cx="6096000" cy="51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2712" y="17463"/>
            <a:ext cx="5637212" cy="1143000"/>
          </a:xfrm>
        </p:spPr>
        <p:txBody>
          <a:bodyPr/>
          <a:lstStyle/>
          <a:p>
            <a:pPr>
              <a:defRPr sz="2800"/>
            </a:pPr>
            <a:r>
              <a:rPr lang="en-IN" dirty="0"/>
              <a:t>Power Query Transformations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61D04-5172-D3CF-3E71-5174FEDEBD74}"/>
              </a:ext>
            </a:extLst>
          </p:cNvPr>
          <p:cNvSpPr txBox="1"/>
          <p:nvPr/>
        </p:nvSpPr>
        <p:spPr>
          <a:xfrm>
            <a:off x="438150" y="4667250"/>
            <a:ext cx="50863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data quality and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Eliminated invalid and duplicate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Ensured accurate DAX calculations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Enhanced dashboard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Prepared data for interactive reporting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7B4E53-7D29-FBA7-570B-E07B7CA16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488" y="243544"/>
            <a:ext cx="6857832" cy="6360456"/>
          </a:xfrm>
          <a:prstGeom prst="rect">
            <a:avLst/>
          </a:prstGeom>
        </p:spPr>
      </p:pic>
      <p:graphicFrame>
        <p:nvGraphicFramePr>
          <p:cNvPr id="11" name="TextBox 3">
            <a:extLst>
              <a:ext uri="{FF2B5EF4-FFF2-40B4-BE49-F238E27FC236}">
                <a16:creationId xmlns:a16="http://schemas.microsoft.com/office/drawing/2014/main" id="{92270713-B73D-90DB-8964-7002EECE9F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17088"/>
              </p:ext>
            </p:extLst>
          </p:nvPr>
        </p:nvGraphicFramePr>
        <p:xfrm>
          <a:off x="-31031" y="1014780"/>
          <a:ext cx="5162550" cy="353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4" y="227014"/>
            <a:ext cx="11363325" cy="673560"/>
          </a:xfrm>
        </p:spPr>
        <p:txBody>
          <a:bodyPr/>
          <a:lstStyle/>
          <a:p>
            <a:pPr>
              <a:defRPr sz="2800"/>
            </a:pPr>
            <a:r>
              <a:rPr lang="en-IN" dirty="0"/>
              <a:t>Data Model (Star Schema)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560" y="1101618"/>
            <a:ext cx="57792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Model Structure</a:t>
            </a:r>
          </a:p>
          <a:p>
            <a:r>
              <a:rPr lang="en-US" b="1" dirty="0"/>
              <a:t>Fact Table:</a:t>
            </a:r>
            <a:r>
              <a:rPr lang="en-US" dirty="0"/>
              <a:t> </a:t>
            </a:r>
            <a:r>
              <a:rPr lang="en-US" dirty="0" err="1"/>
              <a:t>Fact_Disaster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Stores FEMA disaster declaration records. </a:t>
            </a:r>
          </a:p>
          <a:p>
            <a:r>
              <a:rPr lang="en-US" b="1" dirty="0"/>
              <a:t>Dimension Tables: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Dim_Date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Dim_State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Dim_IncidentType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Dim_DeclarationType</a:t>
            </a:r>
            <a:r>
              <a:rPr lang="en-US" dirty="0"/>
              <a:t> </a:t>
            </a:r>
          </a:p>
          <a:p>
            <a:r>
              <a:rPr lang="en-US" b="1" dirty="0"/>
              <a:t>Relationships</a:t>
            </a:r>
          </a:p>
          <a:p>
            <a:r>
              <a:rPr lang="en-US" b="1" dirty="0"/>
              <a:t>Many-to-One</a:t>
            </a:r>
            <a:r>
              <a:rPr lang="en-US" dirty="0"/>
              <a:t> relationships connect the </a:t>
            </a:r>
            <a:r>
              <a:rPr lang="en-US" b="1" dirty="0" err="1"/>
              <a:t>Fact_Disaster</a:t>
            </a:r>
            <a:r>
              <a:rPr lang="en-US" dirty="0"/>
              <a:t> table with each dimension table. </a:t>
            </a:r>
          </a:p>
          <a:p>
            <a:r>
              <a:rPr lang="en-US" dirty="0"/>
              <a:t>Dimension tables provide filtering and categorization, while the fact table stores measurable data.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Improved report performance </a:t>
            </a:r>
          </a:p>
          <a:p>
            <a:r>
              <a:rPr lang="en-US" dirty="0"/>
              <a:t>Simplified relationships </a:t>
            </a:r>
          </a:p>
          <a:p>
            <a:r>
              <a:rPr lang="en-US" dirty="0"/>
              <a:t>Faster DAX calculations </a:t>
            </a:r>
          </a:p>
          <a:p>
            <a:r>
              <a:rPr lang="en-US" dirty="0"/>
              <a:t>Better scalability and easier maintenance </a:t>
            </a:r>
          </a:p>
          <a:p>
            <a:pPr>
              <a:defRPr sz="1800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60634-8A8A-9CFE-5DB7-0BFD01ABB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78" y="948198"/>
            <a:ext cx="5387807" cy="56621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12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15" y="254000"/>
            <a:ext cx="4351982" cy="751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2800"/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DAX Measures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11F43-5930-616E-9D76-D06515DEBF85}"/>
              </a:ext>
            </a:extLst>
          </p:cNvPr>
          <p:cNvSpPr txBox="1"/>
          <p:nvPr/>
        </p:nvSpPr>
        <p:spPr>
          <a:xfrm>
            <a:off x="375920" y="1259840"/>
            <a:ext cx="5039360" cy="49579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595959"/>
                </a:solidFill>
              </a:rPr>
              <a:t>Business Value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Dynamic KPI calculations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Real-time filtering and aggregation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Interactive scenario analysis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Faster and reusable calculations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Supports data-driven decision making </a:t>
            </a:r>
            <a:br>
              <a:rPr lang="en-US" sz="1600" dirty="0">
                <a:solidFill>
                  <a:srgbClr val="595959"/>
                </a:solidFill>
              </a:rPr>
            </a:br>
            <a:br>
              <a:rPr lang="en-US" sz="1600" dirty="0">
                <a:solidFill>
                  <a:srgbClr val="595959"/>
                </a:solidFill>
              </a:rPr>
            </a:br>
            <a:r>
              <a:rPr lang="en-US" sz="2400" b="1" dirty="0">
                <a:solidFill>
                  <a:srgbClr val="595959"/>
                </a:solidFill>
              </a:rPr>
              <a:t>DAX Features Used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Aggregation Functions:</a:t>
            </a:r>
            <a:r>
              <a:rPr lang="en-US" sz="1600" dirty="0">
                <a:solidFill>
                  <a:srgbClr val="595959"/>
                </a:solidFill>
              </a:rPr>
              <a:t> SUM, COUNTROWS, DISTINCTCOUNT, AVERAGE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Filter Functions:</a:t>
            </a:r>
            <a:r>
              <a:rPr lang="en-US" sz="1600" dirty="0">
                <a:solidFill>
                  <a:srgbClr val="595959"/>
                </a:solidFill>
              </a:rPr>
              <a:t> CALCULATE, FILTER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Logical Functions:</a:t>
            </a:r>
            <a:r>
              <a:rPr lang="en-US" sz="1600" dirty="0">
                <a:solidFill>
                  <a:srgbClr val="595959"/>
                </a:solidFill>
              </a:rPr>
              <a:t> IF, SELECTEDVALUE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Variables:</a:t>
            </a:r>
            <a:r>
              <a:rPr lang="en-US" sz="1600" dirty="0">
                <a:solidFill>
                  <a:srgbClr val="595959"/>
                </a:solidFill>
              </a:rPr>
              <a:t> VAR, RETURN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95959"/>
                </a:solidFill>
              </a:rPr>
              <a:t>Scenario Analysis:</a:t>
            </a:r>
            <a:r>
              <a:rPr lang="en-US" sz="1600" dirty="0">
                <a:solidFill>
                  <a:srgbClr val="595959"/>
                </a:solidFill>
              </a:rPr>
              <a:t> What-If Parameter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95959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9FD7EB-D8B6-4505-1513-AF60D569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38072"/>
              </p:ext>
            </p:extLst>
          </p:nvPr>
        </p:nvGraphicFramePr>
        <p:xfrm>
          <a:off x="6370320" y="355600"/>
          <a:ext cx="5566092" cy="6167119"/>
        </p:xfrm>
        <a:graphic>
          <a:graphicData uri="http://schemas.openxmlformats.org/drawingml/2006/table">
            <a:tbl>
              <a:tblPr/>
              <a:tblGrid>
                <a:gridCol w="2837338">
                  <a:extLst>
                    <a:ext uri="{9D8B030D-6E8A-4147-A177-3AD203B41FA5}">
                      <a16:colId xmlns:a16="http://schemas.microsoft.com/office/drawing/2014/main" val="2833410624"/>
                    </a:ext>
                  </a:extLst>
                </a:gridCol>
                <a:gridCol w="2728754">
                  <a:extLst>
                    <a:ext uri="{9D8B030D-6E8A-4147-A177-3AD203B41FA5}">
                      <a16:colId xmlns:a16="http://schemas.microsoft.com/office/drawing/2014/main" val="4012901425"/>
                    </a:ext>
                  </a:extLst>
                </a:gridCol>
              </a:tblGrid>
              <a:tr h="345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Measure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Purpose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299362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Total Disaster Declarations</a:t>
                      </a:r>
                      <a:endParaRPr lang="en-IN" sz="1400" dirty="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Counts the total number of disaster declarations.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532306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Total IA Declarations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Counts Individual Assistance (IA) declarations.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141464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Total PA Declarations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Counts Public Assistance (PA) declarations.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557148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Total HM Declarations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Counts Hazard Mitigation (HM) declarations.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502712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Average Disaster Duration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Calculates the average duration of disasters.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976427"/>
                  </a:ext>
                </a:extLst>
              </a:tr>
              <a:tr h="79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Average Time To Declaration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Calculates the average time between incident start and declaration.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076427"/>
                  </a:ext>
                </a:extLst>
              </a:tr>
              <a:tr h="79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Projected PA Funding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Estimates projected Public Assistance funding using the What-If parameter.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673494"/>
                  </a:ext>
                </a:extLst>
              </a:tr>
              <a:tr h="79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Projected IA Declarations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Projects Individual Assistance declarations based on the selected scenario.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85925"/>
                  </a:ext>
                </a:extLst>
              </a:tr>
              <a:tr h="571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Frequency Adjustment Value</a:t>
                      </a:r>
                      <a:endParaRPr lang="en-IN" sz="1400"/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Captures the user-selected What-If percentage for scenario analysis.</a:t>
                      </a:r>
                    </a:p>
                  </a:txBody>
                  <a:tcPr marL="58743" marR="58743" marT="29372" marB="29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54511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5371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886" y="-209332"/>
            <a:ext cx="9749628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- Page 1: Executive Overview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798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789" y="2443480"/>
            <a:ext cx="338239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996" y="707571"/>
            <a:ext cx="5637917" cy="61504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Visuals Used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📊 KPI Cards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Total Disaster Declarations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Total IA Declarations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Total PA Declarations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Total HM Declarations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Average Disaster Duration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📈 Line Chart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Disaster declaration trends over time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📊 Column/Bar Chart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Comparison of disaster declarations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🥧 Pie/Donut Chart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Distribution of FEMA assistance programs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🎛 Interactive Slicers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Year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State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Incident Type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Declaration Type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Key Insights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Displays overall disaster declaration statistics.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Highlights FEMA assistance program distribution.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Identifies disaster trends over time.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Enables interactive filtering for detailed analysis.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2E5E6-3A50-E973-98FA-117768AD9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30" y="1222390"/>
            <a:ext cx="7776599" cy="44132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12188824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96" y="307447"/>
            <a:ext cx="10691099" cy="9828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- Page 2: Geographic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ECF129-3D83-3CF9-CF01-8E3AC6772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8" y="1927800"/>
            <a:ext cx="6417618" cy="3802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32503" y="1927800"/>
            <a:ext cx="5356319" cy="473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Visuals Used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🗺️ </a:t>
            </a:r>
            <a:r>
              <a:rPr lang="en-US" sz="1500" b="1" dirty="0"/>
              <a:t>Map Visualization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Displays disaster declarations across U.S. states.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📊 </a:t>
            </a:r>
            <a:r>
              <a:rPr lang="en-US" sz="1500" b="1" dirty="0"/>
              <a:t>Top 10 Designated Areas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Highlights counties with the highest number of disaster declarations.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📈 </a:t>
            </a:r>
            <a:r>
              <a:rPr lang="en-US" sz="1500" b="1" dirty="0"/>
              <a:t>Top 10 States by Disaster Count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Compares disaster declaration counts across states.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📋 </a:t>
            </a:r>
            <a:r>
              <a:rPr lang="en-US" sz="1500" b="1" dirty="0"/>
              <a:t>State-wise Disaster Summary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Shows DR, EM, FM declaration counts and total declarations by state.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📄 </a:t>
            </a:r>
            <a:r>
              <a:rPr lang="en-US" sz="1500" b="1" dirty="0"/>
              <a:t>State Summary Table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Displays total disaster declarations and average disaster duration for each state.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🎛️ </a:t>
            </a:r>
            <a:r>
              <a:rPr lang="en-US" sz="1500" b="1" dirty="0"/>
              <a:t>Interactive Slicers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Year  and </a:t>
            </a:r>
            <a:r>
              <a:rPr lang="en-US" sz="1500" dirty="0" err="1"/>
              <a:t>vState</a:t>
            </a:r>
            <a:br>
              <a:rPr lang="en-US" sz="1500" dirty="0"/>
            </a:br>
            <a:br>
              <a:rPr lang="en-US" sz="1500" dirty="0"/>
            </a:br>
            <a:r>
              <a:rPr lang="en-US" sz="1500" b="1" dirty="0"/>
              <a:t>Key Insights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Texas recorded the highest number of disaster declarations.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Washington County had the highest disaster declarations among designated areas.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Users can analyze disasters at both </a:t>
            </a:r>
            <a:r>
              <a:rPr lang="en-US" sz="1500" b="1" dirty="0"/>
              <a:t>state</a:t>
            </a:r>
            <a:r>
              <a:rPr lang="en-US" sz="1500" dirty="0"/>
              <a:t> and </a:t>
            </a:r>
            <a:r>
              <a:rPr lang="en-US" sz="1500" b="1" dirty="0"/>
              <a:t>county</a:t>
            </a:r>
            <a:r>
              <a:rPr lang="en-US" sz="1500" dirty="0"/>
              <a:t> levels.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State-wise summaries provide quick comparison of declaration types and disaster duration.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3111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159" y="-94937"/>
            <a:ext cx="593127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- Page 3: Temporal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857" y="239475"/>
            <a:ext cx="3973063" cy="64356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Visuals Used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📊 </a:t>
            </a:r>
            <a:r>
              <a:rPr lang="en-US" b="1" dirty="0"/>
              <a:t>Monthly Disaster Counts (Area Chart)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Compares monthly disaster declarations by Declaration Type (DR, EM, FM).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📈 </a:t>
            </a:r>
            <a:r>
              <a:rPr lang="en-US" b="1" dirty="0"/>
              <a:t>Program Declarations Over Time (Line Chart)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Shows disaster declaration trends across different years.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📉 </a:t>
            </a:r>
            <a:r>
              <a:rPr lang="en-US" b="1" dirty="0"/>
              <a:t>Average Disaster Duration Over Time (Line Chart)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Displays changes in average disaster duration over the years.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📋 </a:t>
            </a:r>
            <a:r>
              <a:rPr lang="en-US" b="1" dirty="0"/>
              <a:t>Monthly Summary Table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Shows Total Disaster Declarations, Total PA Declarations, and Total IA Declarations by month.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🎛️ </a:t>
            </a:r>
            <a:r>
              <a:rPr lang="en-US" b="1" dirty="0"/>
              <a:t>Interactive Slicers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Incident Type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Year </a:t>
            </a:r>
            <a:br>
              <a:rPr lang="en-US" dirty="0"/>
            </a:b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Key Insights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March and September recorded the highest number of disaster declarations.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Disaster declarations have increased significantly in recent years.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Average disaster duration varies across different years.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Monthly summary enables comparison of Total, IA, and PA declarations.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33993-A3CF-00CF-0AD4-49526858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509" y="1140966"/>
            <a:ext cx="7952608" cy="4711921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0222" y="6209414"/>
            <a:ext cx="6808602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4998" y="-209550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b="1" dirty="0"/>
              <a:t>Dashboard - Page 4: Incident &amp; Program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227" y="134541"/>
            <a:ext cx="3890573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Visuals Used</a:t>
            </a:r>
          </a:p>
          <a:p>
            <a:r>
              <a:rPr lang="en-IN" sz="1400" dirty="0"/>
              <a:t>📊 </a:t>
            </a:r>
            <a:r>
              <a:rPr lang="en-IN" sz="1400" b="1" dirty="0"/>
              <a:t>Program Declarations by Incident Type (Bar Chart)</a:t>
            </a:r>
            <a:endParaRPr lang="en-IN" sz="1400" dirty="0"/>
          </a:p>
          <a:p>
            <a:r>
              <a:rPr lang="en-IN" sz="1400" dirty="0"/>
              <a:t>Compares IA, IH, PA, and HM declarations across different incident types. </a:t>
            </a:r>
          </a:p>
          <a:p>
            <a:r>
              <a:rPr lang="en-IN" sz="1400" dirty="0"/>
              <a:t>📈 </a:t>
            </a:r>
            <a:r>
              <a:rPr lang="en-IN" sz="1400" b="1" dirty="0"/>
              <a:t>Disaster Duration vs Time to Declaration (Scatter Chart)</a:t>
            </a:r>
            <a:endParaRPr lang="en-IN" sz="1400" dirty="0"/>
          </a:p>
          <a:p>
            <a:r>
              <a:rPr lang="en-IN" sz="1400" dirty="0" err="1"/>
              <a:t>Analyzes</a:t>
            </a:r>
            <a:r>
              <a:rPr lang="en-IN" sz="1400" dirty="0"/>
              <a:t> the relationship between declaration time and disaster duration. </a:t>
            </a:r>
          </a:p>
          <a:p>
            <a:r>
              <a:rPr lang="en-IN" sz="1400" dirty="0"/>
              <a:t>📋 </a:t>
            </a:r>
            <a:r>
              <a:rPr lang="en-IN" sz="1400" b="1" dirty="0"/>
              <a:t>Program Summary by Incident Type (Table)</a:t>
            </a:r>
            <a:endParaRPr lang="en-IN" sz="1400" dirty="0"/>
          </a:p>
          <a:p>
            <a:r>
              <a:rPr lang="en-IN" sz="1400" dirty="0"/>
              <a:t>Displays IA, IH, PA, and HM declaration counts for each incident type. </a:t>
            </a:r>
          </a:p>
          <a:p>
            <a:r>
              <a:rPr lang="en-IN" sz="1400" dirty="0"/>
              <a:t>📊 </a:t>
            </a:r>
            <a:r>
              <a:rPr lang="en-IN" sz="1400" b="1" dirty="0"/>
              <a:t>Average Disaster Duration by Incident Type (Column Chart)</a:t>
            </a:r>
            <a:endParaRPr lang="en-IN" sz="1400" dirty="0"/>
          </a:p>
          <a:p>
            <a:r>
              <a:rPr lang="en-IN" sz="1400" dirty="0"/>
              <a:t>Compares average disaster duration across incident types. </a:t>
            </a:r>
          </a:p>
          <a:p>
            <a:r>
              <a:rPr lang="en-IN" sz="1400" dirty="0"/>
              <a:t>🎛️ </a:t>
            </a:r>
            <a:r>
              <a:rPr lang="en-IN" sz="1400" b="1" dirty="0"/>
              <a:t>Interactive Slicers</a:t>
            </a:r>
            <a:endParaRPr lang="en-IN" sz="1400" dirty="0"/>
          </a:p>
          <a:p>
            <a:r>
              <a:rPr lang="en-IN" sz="1400" dirty="0"/>
              <a:t>Year </a:t>
            </a:r>
          </a:p>
          <a:p>
            <a:r>
              <a:rPr lang="en-IN" sz="1400" dirty="0"/>
              <a:t>Date </a:t>
            </a:r>
          </a:p>
          <a:p>
            <a:r>
              <a:rPr lang="en-IN" sz="1400" dirty="0"/>
              <a:t>Incident Type </a:t>
            </a:r>
          </a:p>
          <a:p>
            <a:endParaRPr lang="en-IN" sz="1400" dirty="0"/>
          </a:p>
          <a:p>
            <a:r>
              <a:rPr lang="en-IN" sz="20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Severe Storms and Hurricanes account for the highest number of program declarations.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 declarations are the most common assistance program across incident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Disaster duration varies significantly depending on the incident 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Scatter chart helps identify incidents with longer response and recovery durations.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6ABC4-6F37-79C5-C4A7-9B101D79D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708" y="663018"/>
            <a:ext cx="8044890" cy="526153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55" y="-123825"/>
            <a:ext cx="7545070" cy="1143000"/>
          </a:xfrm>
        </p:spPr>
        <p:txBody>
          <a:bodyPr/>
          <a:lstStyle/>
          <a:p>
            <a:pPr>
              <a:defRPr sz="2800"/>
            </a:pPr>
            <a:r>
              <a:rPr lang="en-IN" dirty="0"/>
              <a:t>Dashboard - Page 5: 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122" y="161925"/>
            <a:ext cx="327764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Visuals Used</a:t>
            </a:r>
          </a:p>
          <a:p>
            <a:r>
              <a:rPr lang="en-IN" sz="1400"/>
              <a:t>📈 </a:t>
            </a:r>
            <a:r>
              <a:rPr lang="en-IN" sz="1400" b="1"/>
              <a:t>Projected PA Funding vs Frequency Adjustment (Line Chart)</a:t>
            </a:r>
            <a:endParaRPr lang="en-IN" sz="1400"/>
          </a:p>
          <a:p>
            <a:r>
              <a:rPr lang="en-IN" sz="1400"/>
              <a:t>Displays projected PA funding across different frequency adjustment percentages. </a:t>
            </a:r>
          </a:p>
          <a:p>
            <a:r>
              <a:rPr lang="en-IN" sz="1400"/>
              <a:t>📊 </a:t>
            </a:r>
            <a:r>
              <a:rPr lang="en-IN" sz="1400" b="1"/>
              <a:t>KPI Cards</a:t>
            </a:r>
            <a:endParaRPr lang="en-IN" sz="1400"/>
          </a:p>
          <a:p>
            <a:r>
              <a:rPr lang="en-IN" sz="1400"/>
              <a:t>Current PA Declarations </a:t>
            </a:r>
          </a:p>
          <a:p>
            <a:r>
              <a:rPr lang="en-IN" sz="1400"/>
              <a:t>Current IA Declarations </a:t>
            </a:r>
          </a:p>
          <a:p>
            <a:r>
              <a:rPr lang="en-IN" sz="1400"/>
              <a:t>Projected PA Funding </a:t>
            </a:r>
          </a:p>
          <a:p>
            <a:r>
              <a:rPr lang="en-IN" sz="1400"/>
              <a:t>Projected IA Declarations </a:t>
            </a:r>
          </a:p>
          <a:p>
            <a:r>
              <a:rPr lang="en-IN" sz="1400"/>
              <a:t>🎚️ </a:t>
            </a:r>
            <a:r>
              <a:rPr lang="en-IN" sz="1400" b="1"/>
              <a:t>What-If Parameter (Slider)</a:t>
            </a:r>
            <a:endParaRPr lang="en-IN" sz="1400"/>
          </a:p>
          <a:p>
            <a:r>
              <a:rPr lang="en-IN" sz="1400"/>
              <a:t>Allows users to adjust the frequency percentage from </a:t>
            </a:r>
            <a:r>
              <a:rPr lang="en-IN" sz="1400" b="1"/>
              <a:t>-20% to +20%</a:t>
            </a:r>
            <a:r>
              <a:rPr lang="en-IN" sz="1400"/>
              <a:t>. </a:t>
            </a:r>
          </a:p>
          <a:p>
            <a:r>
              <a:rPr lang="en-IN" sz="1400"/>
              <a:t>Dynamically updates all projected values and visuals. </a:t>
            </a:r>
            <a:br>
              <a:rPr lang="en-IN" sz="1400"/>
            </a:br>
            <a:endParaRPr lang="en-IN" sz="1400"/>
          </a:p>
          <a:p>
            <a:r>
              <a:rPr lang="en-IN" b="1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Positive frequency adjustments increase projected PA funding and IA declarations.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Negative adjustments decrease projected funding estimates.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Current values remain available for comparison with projected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Users can instantly visualize the financial impact of different scenarios.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E9EC6-9B16-7895-EF56-C3787DF5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763" y="1047581"/>
            <a:ext cx="8691506" cy="47628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085" y="0"/>
            <a:ext cx="10185735" cy="889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2800"/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4380" y="710327"/>
            <a:ext cx="5684355" cy="5257830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Implementation Workflow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📥 </a:t>
            </a:r>
            <a:r>
              <a:rPr lang="en-US" sz="1600" b="1" dirty="0"/>
              <a:t>Data Import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Imported FEMA disaster declaration dataset (CSV).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🧹 </a:t>
            </a:r>
            <a:r>
              <a:rPr lang="en-US" sz="1600" b="1" dirty="0"/>
              <a:t>Data Preparation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Cleaned and transformed data using Power Query.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Converted data types and handled missing values.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🗂️ </a:t>
            </a:r>
            <a:r>
              <a:rPr lang="en-US" sz="1600" b="1" dirty="0"/>
              <a:t>Data Modeling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Built a Star Schema with one Fact table and four Dimension tables.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📊 </a:t>
            </a:r>
            <a:r>
              <a:rPr lang="en-US" sz="1600" b="1" dirty="0"/>
              <a:t>Report Development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Created KPIs, charts, maps, tables, and slicers.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Implemented five interactive dashboard pages.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🧮 </a:t>
            </a:r>
            <a:r>
              <a:rPr lang="en-US" sz="1600" b="1" dirty="0"/>
              <a:t>Business Logic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Developed dynamic DAX measures for KPIs and projections.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Implemented What-If parameter for scenario analysis.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⚡ </a:t>
            </a:r>
            <a:r>
              <a:rPr lang="en-US" sz="1600" b="1" dirty="0"/>
              <a:t>Performance Optimization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Removed unnecessary columns.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Used dimension tables to reduce redundancy.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Optimized DAX measures for better report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A996A-BA6C-FCC2-98CE-8FA038DDDA54}"/>
              </a:ext>
            </a:extLst>
          </p:cNvPr>
          <p:cNvSpPr txBox="1"/>
          <p:nvPr/>
        </p:nvSpPr>
        <p:spPr>
          <a:xfrm>
            <a:off x="6905960" y="732103"/>
            <a:ext cx="4388485" cy="510909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IN" sz="1600" b="1" dirty="0"/>
          </a:p>
          <a:p>
            <a:pPr>
              <a:spcAft>
                <a:spcPts val="600"/>
              </a:spcAft>
            </a:pPr>
            <a:r>
              <a:rPr lang="en-IN" sz="1600" b="1" dirty="0"/>
              <a:t>Technology Stack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Visualization Tool:</a:t>
            </a:r>
            <a:r>
              <a:rPr lang="en-IN" sz="1600" dirty="0"/>
              <a:t> Microsoft Power BI Desktop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Data Source:</a:t>
            </a:r>
            <a:r>
              <a:rPr lang="en-IN" sz="1600" dirty="0"/>
              <a:t> FEMA Disaster Declarations (CSV)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Data Transformation:</a:t>
            </a:r>
            <a:r>
              <a:rPr lang="en-IN" sz="1600" dirty="0"/>
              <a:t> Power Query (M Language)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Data </a:t>
            </a:r>
            <a:r>
              <a:rPr lang="en-IN" sz="1600" b="1" dirty="0" err="1"/>
              <a:t>Modeling</a:t>
            </a:r>
            <a:r>
              <a:rPr lang="en-IN" sz="1600" b="1" dirty="0"/>
              <a:t>:</a:t>
            </a:r>
            <a:r>
              <a:rPr lang="en-IN" sz="1600" dirty="0"/>
              <a:t> Star Schema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Calculations:</a:t>
            </a:r>
            <a:r>
              <a:rPr lang="en-IN" sz="1600" dirty="0"/>
              <a:t> DAX (Data Analysis Expressions)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Scenario Analysis:</a:t>
            </a:r>
            <a:r>
              <a:rPr lang="en-IN" sz="1600" dirty="0"/>
              <a:t> What-If Parameter </a:t>
            </a:r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Deliverables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Interactive Power BI Dashboard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Technical Documentation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User Guide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Scenario Analysis using What-If Parameter </a:t>
            </a:r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473835"/>
            <a:ext cx="5078478" cy="1689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2800"/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Challenges &amp;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7D1BC-3099-4F2D-D7C5-AB1B17386874}"/>
              </a:ext>
            </a:extLst>
          </p:cNvPr>
          <p:cNvSpPr txBox="1"/>
          <p:nvPr/>
        </p:nvSpPr>
        <p:spPr>
          <a:xfrm>
            <a:off x="837982" y="2163248"/>
            <a:ext cx="5256430" cy="5003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Project Outcome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Successfully built a </a:t>
            </a:r>
            <a:r>
              <a:rPr lang="en-US" sz="2000" b="1" dirty="0"/>
              <a:t>5-page interactive Power BI dashboard</a:t>
            </a:r>
            <a:r>
              <a:rPr lang="en-US" sz="2000" dirty="0"/>
              <a:t>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Created </a:t>
            </a:r>
            <a:r>
              <a:rPr lang="en-US" sz="2000" b="1" dirty="0"/>
              <a:t>dynamic KPIs</a:t>
            </a:r>
            <a:r>
              <a:rPr lang="en-US" sz="2000" dirty="0"/>
              <a:t> and </a:t>
            </a:r>
            <a:r>
              <a:rPr lang="en-US" sz="2000" b="1" dirty="0"/>
              <a:t>What-If scenario analysis</a:t>
            </a:r>
            <a:r>
              <a:rPr lang="en-US" sz="2000" dirty="0"/>
              <a:t>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Improved data quality through Power Query transformations. 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Delivered an optimized and user-friendly reporting solution.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3" y="6737718"/>
            <a:ext cx="1220402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94BD3C-D6C3-5BC8-5146-D7F36038C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081881"/>
              </p:ext>
            </p:extLst>
          </p:nvPr>
        </p:nvGraphicFramePr>
        <p:xfrm>
          <a:off x="6272365" y="571500"/>
          <a:ext cx="5691035" cy="6019798"/>
        </p:xfrm>
        <a:graphic>
          <a:graphicData uri="http://schemas.openxmlformats.org/drawingml/2006/table">
            <a:tbl>
              <a:tblPr/>
              <a:tblGrid>
                <a:gridCol w="2791485">
                  <a:extLst>
                    <a:ext uri="{9D8B030D-6E8A-4147-A177-3AD203B41FA5}">
                      <a16:colId xmlns:a16="http://schemas.microsoft.com/office/drawing/2014/main" val="3158171379"/>
                    </a:ext>
                  </a:extLst>
                </a:gridCol>
                <a:gridCol w="2899550">
                  <a:extLst>
                    <a:ext uri="{9D8B030D-6E8A-4147-A177-3AD203B41FA5}">
                      <a16:colId xmlns:a16="http://schemas.microsoft.com/office/drawing/2014/main" val="1352114703"/>
                    </a:ext>
                  </a:extLst>
                </a:gridCol>
              </a:tblGrid>
              <a:tr h="37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Challenge</a:t>
                      </a:r>
                      <a:endParaRPr lang="en-IN" sz="1800" dirty="0"/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Solution</a:t>
                      </a:r>
                      <a:endParaRPr lang="en-IN" sz="1800" dirty="0"/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351478"/>
                  </a:ext>
                </a:extLst>
              </a:tr>
              <a:tr h="9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Handling a large FEMA dataset (~64,000 records)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Optimized the data model using a Star Schema and removed unnecessary columns.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403077"/>
                  </a:ext>
                </a:extLst>
              </a:tr>
              <a:tr h="704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Date conversion errors caused by invalid </a:t>
                      </a:r>
                      <a:r>
                        <a:rPr lang="en-IN" sz="1400" b="1"/>
                        <a:t>"NA"</a:t>
                      </a:r>
                      <a:r>
                        <a:rPr lang="en-IN" sz="1400"/>
                        <a:t> values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Replaced invalid values with </a:t>
                      </a:r>
                      <a:r>
                        <a:rPr lang="en-IN" sz="1400" b="1"/>
                        <a:t>Null</a:t>
                      </a:r>
                      <a:r>
                        <a:rPr lang="en-IN" sz="1400"/>
                        <a:t> in Power Query before changing data types.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428112"/>
                  </a:ext>
                </a:extLst>
              </a:tr>
              <a:tr h="9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Creating dynamic scenario analysis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Implemented a </a:t>
                      </a:r>
                      <a:r>
                        <a:rPr lang="en-IN" sz="1400" b="1"/>
                        <a:t>What-If Parameter</a:t>
                      </a:r>
                      <a:r>
                        <a:rPr lang="en-IN" sz="1400"/>
                        <a:t> with DAX measures to dynamically calculate projected PA funding and IA declarations.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31856"/>
                  </a:ext>
                </a:extLst>
              </a:tr>
              <a:tr h="9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Building efficient DAX calculations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Used </a:t>
                      </a:r>
                      <a:r>
                        <a:rPr lang="en-IN" sz="1400" b="1"/>
                        <a:t>VAR</a:t>
                      </a:r>
                      <a:r>
                        <a:rPr lang="en-IN" sz="1400"/>
                        <a:t>, </a:t>
                      </a:r>
                      <a:r>
                        <a:rPr lang="en-IN" sz="1400" b="1"/>
                        <a:t>RETURN</a:t>
                      </a:r>
                      <a:r>
                        <a:rPr lang="en-IN" sz="1400"/>
                        <a:t>, and reusable measures to simplify calculations and improve performance.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702272"/>
                  </a:ext>
                </a:extLst>
              </a:tr>
              <a:tr h="9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Managing interactive dashboard filtering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Added slicers and established proper relationships between fact and dimension tables for accurate filtering.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230860"/>
                  </a:ext>
                </a:extLst>
              </a:tr>
              <a:tr h="9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Improving report performance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Hid unused columns, optimized visuals, and reduced unnecessary calculations for faster report loading.</a:t>
                      </a:r>
                    </a:p>
                  </a:txBody>
                  <a:tcPr marL="44259" marR="44259" marT="22129" marB="22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313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648" y="321733"/>
            <a:ext cx="115438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637" y="1188637"/>
            <a:ext cx="3140612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 sz="2800"/>
            </a:pP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083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76173" y="896180"/>
            <a:ext cx="6587051" cy="5062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Project Summary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Successfully developed an </a:t>
            </a:r>
            <a:r>
              <a:rPr lang="en-US" sz="1400" b="1" dirty="0"/>
              <a:t>interactive Power BI dashboard</a:t>
            </a:r>
            <a:r>
              <a:rPr lang="en-US" sz="1400" dirty="0"/>
              <a:t> for analyzing FEMA Disaster Declarations.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Performed </a:t>
            </a:r>
            <a:r>
              <a:rPr lang="en-US" sz="1400" b="1" dirty="0"/>
              <a:t>data cleaning and transformation</a:t>
            </a:r>
            <a:r>
              <a:rPr lang="en-US" sz="1400" dirty="0"/>
              <a:t> using Power Query.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Implemented a </a:t>
            </a:r>
            <a:r>
              <a:rPr lang="en-US" sz="1400" b="1" dirty="0"/>
              <a:t>Star Schema</a:t>
            </a:r>
            <a:r>
              <a:rPr lang="en-US" sz="1400" dirty="0"/>
              <a:t> data model for efficient reporting.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Created </a:t>
            </a:r>
            <a:r>
              <a:rPr lang="en-US" sz="1400" b="1" dirty="0"/>
              <a:t>dynamic DAX measures</a:t>
            </a:r>
            <a:r>
              <a:rPr lang="en-US" sz="1400" dirty="0"/>
              <a:t> to calculate KPIs and business metrics.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Built </a:t>
            </a:r>
            <a:r>
              <a:rPr lang="en-US" sz="1400" b="1" dirty="0"/>
              <a:t>5 interactive dashboard pages</a:t>
            </a:r>
            <a:r>
              <a:rPr lang="en-US" sz="1400" dirty="0"/>
              <a:t> covering Executive Overview, Geographic Analysis, Temporal Trends, Incident &amp; Program Insights, and Scenario Analysis.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Integrated a </a:t>
            </a:r>
            <a:r>
              <a:rPr lang="en-US" sz="1400" b="1" dirty="0"/>
              <a:t>What-If Parameter</a:t>
            </a:r>
            <a:r>
              <a:rPr lang="en-US" sz="1400" dirty="0"/>
              <a:t> to perform scenario-based funding analysis.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Delivered a scalable, user-friendly dashboard that supports data-driven decision-making.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 dirty="0"/>
            </a:b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Key Learnings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Power Query for ETL and data preparation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Star Schema data modeling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Advanced DAX calculations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Interactive dashboard design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Performance optimization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What-If scenario analysis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520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D5748-1287-11A8-09A7-0A362968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952" y="2774465"/>
            <a:ext cx="4804745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D15BD027-771C-5F7A-7E1B-BE538F485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81" y="1815859"/>
            <a:ext cx="4140681" cy="414068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1" y="-5977"/>
            <a:ext cx="6237049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243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1618</Words>
  <Application>Microsoft Office PowerPoint</Application>
  <PresentationFormat>Custom</PresentationFormat>
  <Paragraphs>275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US Disaster Declarations Dashboard</vt:lpstr>
      <vt:lpstr>Project Overview</vt:lpstr>
      <vt:lpstr>Dataset Overview</vt:lpstr>
      <vt:lpstr>Power Query Transformations</vt:lpstr>
      <vt:lpstr>Data Model (Star Schema)</vt:lpstr>
      <vt:lpstr>DAX Measures</vt:lpstr>
      <vt:lpstr>Dashboard - Page 1: Executive Overview</vt:lpstr>
      <vt:lpstr>Dashboard - Page 2: Geographic Analysis</vt:lpstr>
      <vt:lpstr>Dashboard - Page 3: Temporal Trends</vt:lpstr>
      <vt:lpstr>Dashboard - Page 4: Incident &amp; Program Insights</vt:lpstr>
      <vt:lpstr>Dashboard - Page 5: Scenario Analysis</vt:lpstr>
      <vt:lpstr>Technical Implementation</vt:lpstr>
      <vt:lpstr>Project Challenges &amp; Solutions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nandekar</cp:lastModifiedBy>
  <cp:revision>3</cp:revision>
  <dcterms:created xsi:type="dcterms:W3CDTF">2013-01-27T09:14:16Z</dcterms:created>
  <dcterms:modified xsi:type="dcterms:W3CDTF">2026-08-09T16:18:44Z</dcterms:modified>
  <cp:category/>
</cp:coreProperties>
</file>